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7" r:id="rId12"/>
    <p:sldId id="268" r:id="rId13"/>
    <p:sldId id="265" r:id="rId14"/>
    <p:sldId id="269" r:id="rId15"/>
  </p:sldIdLst>
  <p:sldSz cx="18288000" cy="10287000"/>
  <p:notesSz cx="6858000" cy="9144000"/>
  <p:embeddedFontLst>
    <p:embeddedFont>
      <p:font typeface="Raleway" pitchFamily="2" charset="0"/>
      <p:regular r:id="rId16"/>
    </p:embeddedFont>
    <p:embeddedFont>
      <p:font typeface="Raleway Bold"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6/30/2026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6/30/2026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6/30/2026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6/30/2026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6/30/2026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6/30/2026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svg"/><Relationship Id="rId1" Type="http://schemas.openxmlformats.org/officeDocument/2006/relationships/slideLayout" Target="../slideLayouts/slideLayout7.xml"/><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6.svg"/><Relationship Id="rId1" Type="http://schemas.openxmlformats.org/officeDocument/2006/relationships/slideLayout" Target="../slideLayouts/slideLayout7.xml"/><Relationship Id="rId6" Type="http://schemas.openxmlformats.org/officeDocument/2006/relationships/image" Target="../media/image12.sv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6.svg"/><Relationship Id="rId1" Type="http://schemas.openxmlformats.org/officeDocument/2006/relationships/slideLayout" Target="../slideLayouts/slideLayout7.xml"/><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8.svg"/><Relationship Id="rId4" Type="http://schemas.openxmlformats.org/officeDocument/2006/relationships/image" Target="../media/image21.png"/></Relationships>
</file>

<file path=ppt/slides/_rels/slide10.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7.xml"/><Relationship Id="rId4" Type="http://schemas.openxmlformats.org/officeDocument/2006/relationships/image" Target="../media/image22.svg"/></Relationships>
</file>

<file path=ppt/slides/_rels/slide1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3.svg"/><Relationship Id="rId1" Type="http://schemas.openxmlformats.org/officeDocument/2006/relationships/slideLayout" Target="../slideLayouts/slideLayout7.xml"/><Relationship Id="rId5" Type="http://schemas.openxmlformats.org/officeDocument/2006/relationships/image" Target="../media/image5.sv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307050" cy="10287000"/>
            <a:chOff x="0" y="0"/>
            <a:chExt cx="4821610" cy="2709333"/>
          </a:xfrm>
        </p:grpSpPr>
        <p:sp>
          <p:nvSpPr>
            <p:cNvPr id="3" name="Freeform 3"/>
            <p:cNvSpPr/>
            <p:nvPr/>
          </p:nvSpPr>
          <p:spPr>
            <a:xfrm>
              <a:off x="0" y="0"/>
              <a:ext cx="4821610" cy="2709333"/>
            </a:xfrm>
            <a:custGeom>
              <a:avLst/>
              <a:gdLst/>
              <a:ahLst/>
              <a:cxnLst/>
              <a:rect l="l" t="t" r="r" b="b"/>
              <a:pathLst>
                <a:path w="4821610" h="2709333">
                  <a:moveTo>
                    <a:pt x="0" y="0"/>
                  </a:moveTo>
                  <a:lnTo>
                    <a:pt x="4821610" y="0"/>
                  </a:lnTo>
                  <a:lnTo>
                    <a:pt x="4821610" y="2709333"/>
                  </a:lnTo>
                  <a:lnTo>
                    <a:pt x="0" y="2709333"/>
                  </a:lnTo>
                  <a:close/>
                </a:path>
              </a:pathLst>
            </a:custGeom>
            <a:solidFill>
              <a:srgbClr val="CFE8FF"/>
            </a:solidFill>
          </p:spPr>
        </p:sp>
        <p:sp>
          <p:nvSpPr>
            <p:cNvPr id="4" name="TextBox 4"/>
            <p:cNvSpPr txBox="1"/>
            <p:nvPr/>
          </p:nvSpPr>
          <p:spPr>
            <a:xfrm>
              <a:off x="0" y="-38100"/>
              <a:ext cx="4821610" cy="27474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1678248" y="1295142"/>
            <a:ext cx="14928577" cy="7807646"/>
          </a:xfrm>
          <a:custGeom>
            <a:avLst/>
            <a:gdLst/>
            <a:ahLst/>
            <a:cxnLst/>
            <a:rect l="l" t="t" r="r" b="b"/>
            <a:pathLst>
              <a:path w="14928577" h="7807646">
                <a:moveTo>
                  <a:pt x="0" y="0"/>
                </a:moveTo>
                <a:lnTo>
                  <a:pt x="14928577" y="0"/>
                </a:lnTo>
                <a:lnTo>
                  <a:pt x="14928577" y="7807646"/>
                </a:lnTo>
                <a:lnTo>
                  <a:pt x="0" y="780764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2006533" y="2338545"/>
            <a:ext cx="14293985" cy="1377949"/>
          </a:xfrm>
          <a:prstGeom prst="rect">
            <a:avLst/>
          </a:prstGeom>
        </p:spPr>
        <p:txBody>
          <a:bodyPr lIns="0" tIns="0" rIns="0" bIns="0" rtlCol="0" anchor="t">
            <a:spAutoFit/>
          </a:bodyPr>
          <a:lstStyle/>
          <a:p>
            <a:pPr algn="ctr">
              <a:lnSpc>
                <a:spcPts val="11200"/>
              </a:lnSpc>
              <a:spcBef>
                <a:spcPct val="0"/>
              </a:spcBef>
            </a:pPr>
            <a:r>
              <a:rPr lang="en-US" sz="8000" b="1">
                <a:solidFill>
                  <a:srgbClr val="000000"/>
                </a:solidFill>
                <a:latin typeface="Raleway Bold"/>
                <a:ea typeface="Raleway Bold"/>
                <a:cs typeface="Raleway Bold"/>
                <a:sym typeface="Raleway Bold"/>
              </a:rPr>
              <a:t>AIRFLY INSIGHTS</a:t>
            </a:r>
          </a:p>
        </p:txBody>
      </p:sp>
      <p:sp>
        <p:nvSpPr>
          <p:cNvPr id="7" name="TextBox 7"/>
          <p:cNvSpPr txBox="1"/>
          <p:nvPr/>
        </p:nvSpPr>
        <p:spPr>
          <a:xfrm>
            <a:off x="1256927" y="3906374"/>
            <a:ext cx="15136626" cy="771525"/>
          </a:xfrm>
          <a:prstGeom prst="rect">
            <a:avLst/>
          </a:prstGeom>
        </p:spPr>
        <p:txBody>
          <a:bodyPr lIns="0" tIns="0" rIns="0" bIns="0" rtlCol="0" anchor="t">
            <a:spAutoFit/>
          </a:bodyPr>
          <a:lstStyle/>
          <a:p>
            <a:pPr algn="ctr">
              <a:lnSpc>
                <a:spcPts val="6299"/>
              </a:lnSpc>
              <a:spcBef>
                <a:spcPct val="0"/>
              </a:spcBef>
            </a:pPr>
            <a:r>
              <a:rPr lang="en-US" sz="4500">
                <a:solidFill>
                  <a:srgbClr val="000000"/>
                </a:solidFill>
                <a:latin typeface="Raleway"/>
                <a:ea typeface="Raleway"/>
                <a:cs typeface="Raleway"/>
                <a:sym typeface="Raleway"/>
              </a:rPr>
              <a:t>Data Visualization and Analysis of Airline Operations</a:t>
            </a:r>
          </a:p>
        </p:txBody>
      </p:sp>
      <p:sp>
        <p:nvSpPr>
          <p:cNvPr id="8" name="TextBox 8"/>
          <p:cNvSpPr txBox="1"/>
          <p:nvPr/>
        </p:nvSpPr>
        <p:spPr>
          <a:xfrm>
            <a:off x="3841345" y="5754105"/>
            <a:ext cx="10158691" cy="1822422"/>
          </a:xfrm>
          <a:prstGeom prst="rect">
            <a:avLst/>
          </a:prstGeom>
        </p:spPr>
        <p:txBody>
          <a:bodyPr lIns="0" tIns="0" rIns="0" bIns="0" rtlCol="0" anchor="t">
            <a:spAutoFit/>
          </a:bodyPr>
          <a:lstStyle/>
          <a:p>
            <a:pPr algn="ctr">
              <a:lnSpc>
                <a:spcPts val="4620"/>
              </a:lnSpc>
            </a:pPr>
            <a:r>
              <a:rPr lang="en-US" sz="3300" dirty="0">
                <a:solidFill>
                  <a:srgbClr val="000000"/>
                </a:solidFill>
                <a:latin typeface="Raleway"/>
                <a:ea typeface="Raleway"/>
                <a:cs typeface="Raleway"/>
                <a:sym typeface="Raleway"/>
              </a:rPr>
              <a:t>Presented by</a:t>
            </a:r>
          </a:p>
          <a:p>
            <a:pPr algn="ctr">
              <a:lnSpc>
                <a:spcPts val="5040"/>
              </a:lnSpc>
            </a:pPr>
            <a:r>
              <a:rPr lang="en-US" sz="3600" dirty="0" err="1">
                <a:solidFill>
                  <a:srgbClr val="000000"/>
                </a:solidFill>
                <a:latin typeface="Raleway"/>
                <a:ea typeface="Raleway"/>
                <a:cs typeface="Raleway"/>
                <a:sym typeface="Raleway"/>
              </a:rPr>
              <a:t>Aravintakshan</a:t>
            </a:r>
            <a:endParaRPr lang="en-US" sz="3600" dirty="0">
              <a:solidFill>
                <a:srgbClr val="000000"/>
              </a:solidFill>
              <a:latin typeface="Raleway"/>
              <a:ea typeface="Raleway"/>
              <a:cs typeface="Raleway"/>
              <a:sym typeface="Raleway"/>
            </a:endParaRPr>
          </a:p>
          <a:p>
            <a:pPr algn="l">
              <a:lnSpc>
                <a:spcPts val="5040"/>
              </a:lnSpc>
              <a:spcBef>
                <a:spcPct val="0"/>
              </a:spcBef>
            </a:pPr>
            <a:r>
              <a:rPr lang="en-US" sz="3600" dirty="0">
                <a:solidFill>
                  <a:srgbClr val="000000"/>
                </a:solidFill>
                <a:latin typeface="Raleway"/>
                <a:ea typeface="Raleway"/>
                <a:cs typeface="Raleway"/>
                <a:sym typeface="Raleway"/>
              </a:rPr>
              <a:t>              </a:t>
            </a:r>
          </a:p>
        </p:txBody>
      </p:sp>
      <p:sp>
        <p:nvSpPr>
          <p:cNvPr id="9" name="Freeform 9"/>
          <p:cNvSpPr/>
          <p:nvPr/>
        </p:nvSpPr>
        <p:spPr>
          <a:xfrm>
            <a:off x="2293202" y="1718932"/>
            <a:ext cx="3096285" cy="2437168"/>
          </a:xfrm>
          <a:custGeom>
            <a:avLst/>
            <a:gdLst/>
            <a:ahLst/>
            <a:cxnLst/>
            <a:rect l="l" t="t" r="r" b="b"/>
            <a:pathLst>
              <a:path w="3096285" h="2437168">
                <a:moveTo>
                  <a:pt x="0" y="0"/>
                </a:moveTo>
                <a:lnTo>
                  <a:pt x="3096285" y="0"/>
                </a:lnTo>
                <a:lnTo>
                  <a:pt x="3096285" y="2437168"/>
                </a:lnTo>
                <a:lnTo>
                  <a:pt x="0" y="2437168"/>
                </a:lnTo>
                <a:lnTo>
                  <a:pt x="0" y="0"/>
                </a:lnTo>
                <a:close/>
              </a:path>
            </a:pathLst>
          </a:custGeom>
          <a:blipFill>
            <a:blip r:embed="rId3"/>
            <a:stretch>
              <a:fillRect b="-27044"/>
            </a:stretch>
          </a:blipFill>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D7D7D7"/>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8307050" cy="10287000"/>
            <a:chOff x="0" y="0"/>
            <a:chExt cx="4821610" cy="2709333"/>
          </a:xfrm>
        </p:grpSpPr>
        <p:sp>
          <p:nvSpPr>
            <p:cNvPr id="3" name="Freeform 3"/>
            <p:cNvSpPr/>
            <p:nvPr/>
          </p:nvSpPr>
          <p:spPr>
            <a:xfrm>
              <a:off x="0" y="0"/>
              <a:ext cx="4821610" cy="2709333"/>
            </a:xfrm>
            <a:custGeom>
              <a:avLst/>
              <a:gdLst/>
              <a:ahLst/>
              <a:cxnLst/>
              <a:rect l="l" t="t" r="r" b="b"/>
              <a:pathLst>
                <a:path w="4821610" h="2709333">
                  <a:moveTo>
                    <a:pt x="0" y="0"/>
                  </a:moveTo>
                  <a:lnTo>
                    <a:pt x="4821610" y="0"/>
                  </a:lnTo>
                  <a:lnTo>
                    <a:pt x="4821610" y="2709333"/>
                  </a:lnTo>
                  <a:lnTo>
                    <a:pt x="0" y="2709333"/>
                  </a:lnTo>
                  <a:close/>
                </a:path>
              </a:pathLst>
            </a:custGeom>
            <a:solidFill>
              <a:srgbClr val="FFFFFF"/>
            </a:solidFill>
          </p:spPr>
        </p:sp>
        <p:sp>
          <p:nvSpPr>
            <p:cNvPr id="4" name="TextBox 4"/>
            <p:cNvSpPr txBox="1"/>
            <p:nvPr/>
          </p:nvSpPr>
          <p:spPr>
            <a:xfrm>
              <a:off x="0" y="-38100"/>
              <a:ext cx="4821610" cy="2747433"/>
            </a:xfrm>
            <a:prstGeom prst="rect">
              <a:avLst/>
            </a:prstGeom>
          </p:spPr>
          <p:txBody>
            <a:bodyPr lIns="50800" tIns="50800" rIns="50800" bIns="50800" rtlCol="0" anchor="ctr"/>
            <a:lstStyle/>
            <a:p>
              <a:pPr algn="ctr">
                <a:lnSpc>
                  <a:spcPts val="2659"/>
                </a:lnSpc>
              </a:pPr>
              <a:endParaRPr/>
            </a:p>
          </p:txBody>
        </p:sp>
      </p:grpSp>
      <p:sp>
        <p:nvSpPr>
          <p:cNvPr id="5" name="Freeform 5"/>
          <p:cNvSpPr/>
          <p:nvPr/>
        </p:nvSpPr>
        <p:spPr>
          <a:xfrm>
            <a:off x="6783882" y="1028700"/>
            <a:ext cx="5564861" cy="1146361"/>
          </a:xfrm>
          <a:custGeom>
            <a:avLst/>
            <a:gdLst/>
            <a:ahLst/>
            <a:cxnLst/>
            <a:rect l="l" t="t" r="r" b="b"/>
            <a:pathLst>
              <a:path w="5564861" h="1146361">
                <a:moveTo>
                  <a:pt x="0" y="0"/>
                </a:moveTo>
                <a:lnTo>
                  <a:pt x="5564861" y="0"/>
                </a:lnTo>
                <a:lnTo>
                  <a:pt x="5564861" y="1146361"/>
                </a:lnTo>
                <a:lnTo>
                  <a:pt x="0" y="1146361"/>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TextBox 6"/>
          <p:cNvSpPr txBox="1"/>
          <p:nvPr/>
        </p:nvSpPr>
        <p:spPr>
          <a:xfrm>
            <a:off x="5814227" y="3115165"/>
            <a:ext cx="11445073" cy="5743576"/>
          </a:xfrm>
          <a:prstGeom prst="rect">
            <a:avLst/>
          </a:prstGeom>
        </p:spPr>
        <p:txBody>
          <a:bodyPr lIns="0" tIns="0" rIns="0" bIns="0" rtlCol="0" anchor="t">
            <a:spAutoFit/>
          </a:bodyPr>
          <a:lstStyle/>
          <a:p>
            <a:pPr marL="647695" lvl="1" indent="-323848" algn="l">
              <a:lnSpc>
                <a:spcPts val="4199"/>
              </a:lnSpc>
              <a:buFont typeface="Arial"/>
              <a:buChar char="•"/>
            </a:pPr>
            <a:r>
              <a:rPr lang="en-US" sz="2999">
                <a:solidFill>
                  <a:srgbClr val="000000"/>
                </a:solidFill>
                <a:latin typeface="Raleway"/>
                <a:ea typeface="Raleway"/>
                <a:cs typeface="Raleway"/>
                <a:sym typeface="Raleway"/>
              </a:rPr>
              <a:t>Project Statement </a:t>
            </a:r>
          </a:p>
          <a:p>
            <a:pPr marL="647695" lvl="1" indent="-323848" algn="l">
              <a:lnSpc>
                <a:spcPts val="4199"/>
              </a:lnSpc>
              <a:buFont typeface="Arial"/>
              <a:buChar char="•"/>
            </a:pPr>
            <a:r>
              <a:rPr lang="en-US" sz="2999">
                <a:solidFill>
                  <a:srgbClr val="000000"/>
                </a:solidFill>
                <a:latin typeface="Raleway"/>
                <a:ea typeface="Raleway"/>
                <a:cs typeface="Raleway"/>
                <a:sym typeface="Raleway"/>
              </a:rPr>
              <a:t>Data Acquisition and Understanding </a:t>
            </a:r>
          </a:p>
          <a:p>
            <a:pPr marL="647695" lvl="1" indent="-323848" algn="l">
              <a:lnSpc>
                <a:spcPts val="4199"/>
              </a:lnSpc>
              <a:buFont typeface="Arial"/>
              <a:buChar char="•"/>
            </a:pPr>
            <a:r>
              <a:rPr lang="en-US" sz="2999">
                <a:solidFill>
                  <a:srgbClr val="000000"/>
                </a:solidFill>
                <a:latin typeface="Raleway"/>
                <a:ea typeface="Raleway"/>
                <a:cs typeface="Raleway"/>
                <a:sym typeface="Raleway"/>
              </a:rPr>
              <a:t>Data Cleaning and Feature Engineering </a:t>
            </a:r>
          </a:p>
          <a:p>
            <a:pPr marL="647695" lvl="1" indent="-323848" algn="l">
              <a:lnSpc>
                <a:spcPts val="4199"/>
              </a:lnSpc>
              <a:buFont typeface="Arial"/>
              <a:buChar char="•"/>
            </a:pPr>
            <a:r>
              <a:rPr lang="en-US" sz="2999">
                <a:solidFill>
                  <a:srgbClr val="000000"/>
                </a:solidFill>
                <a:latin typeface="Raleway"/>
                <a:ea typeface="Raleway"/>
                <a:cs typeface="Raleway"/>
                <a:sym typeface="Raleway"/>
              </a:rPr>
              <a:t>Univariate and Bivariate Analysis </a:t>
            </a:r>
          </a:p>
          <a:p>
            <a:pPr marL="647695" lvl="1" indent="-323848" algn="l">
              <a:lnSpc>
                <a:spcPts val="4199"/>
              </a:lnSpc>
              <a:buFont typeface="Arial"/>
              <a:buChar char="•"/>
            </a:pPr>
            <a:r>
              <a:rPr lang="en-US" sz="2999">
                <a:solidFill>
                  <a:srgbClr val="000000"/>
                </a:solidFill>
                <a:latin typeface="Raleway"/>
                <a:ea typeface="Raleway"/>
                <a:cs typeface="Raleway"/>
                <a:sym typeface="Raleway"/>
              </a:rPr>
              <a:t>Delay Cause Analysis </a:t>
            </a:r>
          </a:p>
          <a:p>
            <a:pPr marL="647695" lvl="1" indent="-323848" algn="l">
              <a:lnSpc>
                <a:spcPts val="4199"/>
              </a:lnSpc>
              <a:buFont typeface="Arial"/>
              <a:buChar char="•"/>
            </a:pPr>
            <a:r>
              <a:rPr lang="en-US" sz="2999">
                <a:solidFill>
                  <a:srgbClr val="000000"/>
                </a:solidFill>
                <a:latin typeface="Raleway"/>
                <a:ea typeface="Raleway"/>
                <a:cs typeface="Raleway"/>
                <a:sym typeface="Raleway"/>
              </a:rPr>
              <a:t>Route and Airport-Level Exploration </a:t>
            </a:r>
          </a:p>
          <a:p>
            <a:pPr marL="647695" lvl="1" indent="-323848" algn="l">
              <a:lnSpc>
                <a:spcPts val="4199"/>
              </a:lnSpc>
              <a:buFont typeface="Arial"/>
              <a:buChar char="•"/>
            </a:pPr>
            <a:r>
              <a:rPr lang="en-US" sz="2999">
                <a:solidFill>
                  <a:srgbClr val="000000"/>
                </a:solidFill>
                <a:latin typeface="Raleway"/>
                <a:ea typeface="Raleway"/>
                <a:cs typeface="Raleway"/>
                <a:sym typeface="Raleway"/>
              </a:rPr>
              <a:t>Cancellation and Seasonal Trends</a:t>
            </a:r>
          </a:p>
          <a:p>
            <a:pPr marL="647695" lvl="1" indent="-323848" algn="l">
              <a:lnSpc>
                <a:spcPts val="4199"/>
              </a:lnSpc>
              <a:buFont typeface="Arial"/>
              <a:buChar char="•"/>
            </a:pPr>
            <a:r>
              <a:rPr lang="en-US" sz="2999">
                <a:solidFill>
                  <a:srgbClr val="000000"/>
                </a:solidFill>
                <a:latin typeface="Raleway"/>
                <a:ea typeface="Raleway"/>
                <a:cs typeface="Raleway"/>
                <a:sym typeface="Raleway"/>
              </a:rPr>
              <a:t>Final Dashboard </a:t>
            </a:r>
          </a:p>
          <a:p>
            <a:pPr marL="647695" lvl="1" indent="-323848" algn="l">
              <a:lnSpc>
                <a:spcPts val="4199"/>
              </a:lnSpc>
              <a:buFont typeface="Arial"/>
              <a:buChar char="•"/>
            </a:pPr>
            <a:r>
              <a:rPr lang="en-US" sz="2999">
                <a:solidFill>
                  <a:srgbClr val="000000"/>
                </a:solidFill>
                <a:latin typeface="Raleway"/>
                <a:ea typeface="Raleway"/>
                <a:cs typeface="Raleway"/>
                <a:sym typeface="Raleway"/>
              </a:rPr>
              <a:t>Challenges </a:t>
            </a:r>
          </a:p>
          <a:p>
            <a:pPr marL="647695" lvl="1" indent="-323848" algn="l">
              <a:lnSpc>
                <a:spcPts val="4199"/>
              </a:lnSpc>
              <a:buFont typeface="Arial"/>
              <a:buChar char="•"/>
            </a:pPr>
            <a:r>
              <a:rPr lang="en-US" sz="2999">
                <a:solidFill>
                  <a:srgbClr val="000000"/>
                </a:solidFill>
                <a:latin typeface="Raleway"/>
                <a:ea typeface="Raleway"/>
                <a:cs typeface="Raleway"/>
                <a:sym typeface="Raleway"/>
              </a:rPr>
              <a:t>Future Scope</a:t>
            </a:r>
          </a:p>
          <a:p>
            <a:pPr marL="647695" lvl="1" indent="-323848" algn="l">
              <a:lnSpc>
                <a:spcPts val="4199"/>
              </a:lnSpc>
              <a:buFont typeface="Arial"/>
              <a:buChar char="•"/>
            </a:pPr>
            <a:r>
              <a:rPr lang="en-US" sz="2999">
                <a:solidFill>
                  <a:srgbClr val="000000"/>
                </a:solidFill>
                <a:latin typeface="Raleway"/>
                <a:ea typeface="Raleway"/>
                <a:cs typeface="Raleway"/>
                <a:sym typeface="Raleway"/>
              </a:rPr>
              <a:t>Conclusion</a:t>
            </a:r>
          </a:p>
        </p:txBody>
      </p:sp>
      <p:sp>
        <p:nvSpPr>
          <p:cNvPr id="7" name="Freeform 7"/>
          <p:cNvSpPr/>
          <p:nvPr/>
        </p:nvSpPr>
        <p:spPr>
          <a:xfrm>
            <a:off x="5016293" y="2963128"/>
            <a:ext cx="9100038" cy="6104799"/>
          </a:xfrm>
          <a:custGeom>
            <a:avLst/>
            <a:gdLst/>
            <a:ahLst/>
            <a:cxnLst/>
            <a:rect l="l" t="t" r="r" b="b"/>
            <a:pathLst>
              <a:path w="9100038" h="6104799">
                <a:moveTo>
                  <a:pt x="0" y="0"/>
                </a:moveTo>
                <a:lnTo>
                  <a:pt x="9100038" y="0"/>
                </a:lnTo>
                <a:lnTo>
                  <a:pt x="9100038" y="6104800"/>
                </a:lnTo>
                <a:lnTo>
                  <a:pt x="0" y="6104800"/>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Freeform 8"/>
          <p:cNvSpPr/>
          <p:nvPr/>
        </p:nvSpPr>
        <p:spPr>
          <a:xfrm>
            <a:off x="12344310" y="860899"/>
            <a:ext cx="5943690" cy="5154629"/>
          </a:xfrm>
          <a:custGeom>
            <a:avLst/>
            <a:gdLst/>
            <a:ahLst/>
            <a:cxnLst/>
            <a:rect l="l" t="t" r="r" b="b"/>
            <a:pathLst>
              <a:path w="5943690" h="5154629">
                <a:moveTo>
                  <a:pt x="0" y="0"/>
                </a:moveTo>
                <a:lnTo>
                  <a:pt x="5943690" y="0"/>
                </a:lnTo>
                <a:lnTo>
                  <a:pt x="5943690" y="5154629"/>
                </a:lnTo>
                <a:lnTo>
                  <a:pt x="0" y="5154629"/>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9" name="TextBox 9"/>
          <p:cNvSpPr txBox="1"/>
          <p:nvPr/>
        </p:nvSpPr>
        <p:spPr>
          <a:xfrm>
            <a:off x="6537712" y="1224055"/>
            <a:ext cx="6057199" cy="679451"/>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Raleway Bold"/>
                <a:ea typeface="Raleway Bold"/>
                <a:cs typeface="Raleway Bold"/>
                <a:sym typeface="Raleway Bold"/>
              </a:rPr>
              <a:t>Overview</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CFE8FF"/>
        </a:solidFill>
        <a:effectLst/>
      </p:bgPr>
    </p:bg>
    <p:spTree>
      <p:nvGrpSpPr>
        <p:cNvPr id="1" name=""/>
        <p:cNvGrpSpPr/>
        <p:nvPr/>
      </p:nvGrpSpPr>
      <p:grpSpPr>
        <a:xfrm>
          <a:off x="0" y="0"/>
          <a:ext cx="0" cy="0"/>
          <a:chOff x="0" y="0"/>
          <a:chExt cx="0" cy="0"/>
        </a:xfrm>
      </p:grpSpPr>
      <p:sp>
        <p:nvSpPr>
          <p:cNvPr id="2" name="Freeform 2"/>
          <p:cNvSpPr/>
          <p:nvPr/>
        </p:nvSpPr>
        <p:spPr>
          <a:xfrm>
            <a:off x="5884914" y="1028700"/>
            <a:ext cx="6518172" cy="1342743"/>
          </a:xfrm>
          <a:custGeom>
            <a:avLst/>
            <a:gdLst/>
            <a:ahLst/>
            <a:cxnLst/>
            <a:rect l="l" t="t" r="r" b="b"/>
            <a:pathLst>
              <a:path w="6518172" h="1342743">
                <a:moveTo>
                  <a:pt x="0" y="0"/>
                </a:moveTo>
                <a:lnTo>
                  <a:pt x="6518172" y="0"/>
                </a:lnTo>
                <a:lnTo>
                  <a:pt x="6518172" y="1342743"/>
                </a:lnTo>
                <a:lnTo>
                  <a:pt x="0" y="134274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2535221" y="3590391"/>
            <a:ext cx="13180277" cy="4257675"/>
          </a:xfrm>
          <a:prstGeom prst="rect">
            <a:avLst/>
          </a:prstGeom>
        </p:spPr>
        <p:txBody>
          <a:bodyPr lIns="0" tIns="0" rIns="0" bIns="0" rtlCol="0" anchor="t">
            <a:spAutoFit/>
          </a:bodyPr>
          <a:lstStyle/>
          <a:p>
            <a:pPr algn="l">
              <a:lnSpc>
                <a:spcPts val="4200"/>
              </a:lnSpc>
              <a:spcBef>
                <a:spcPct val="0"/>
              </a:spcBef>
            </a:pPr>
            <a:r>
              <a:rPr lang="en-US" sz="3000">
                <a:solidFill>
                  <a:srgbClr val="000000"/>
                </a:solidFill>
                <a:latin typeface="Raleway"/>
                <a:ea typeface="Raleway"/>
                <a:cs typeface="Raleway"/>
                <a:sym typeface="Raleway"/>
              </a:rPr>
              <a:t>The objective of this project is to analyze large-scale airline flight data to uncover operational trends, delay patterns, and cancellation reasons using data visualization techniques. It involves cleaning the data, creating meaningful features, and exploring patterns across airlines, airports, and seasons. </a:t>
            </a:r>
          </a:p>
          <a:p>
            <a:pPr algn="l">
              <a:lnSpc>
                <a:spcPts val="4200"/>
              </a:lnSpc>
              <a:spcBef>
                <a:spcPct val="0"/>
              </a:spcBef>
            </a:pPr>
            <a:endParaRPr lang="en-US" sz="3000">
              <a:solidFill>
                <a:srgbClr val="000000"/>
              </a:solidFill>
              <a:latin typeface="Raleway"/>
              <a:ea typeface="Raleway"/>
              <a:cs typeface="Raleway"/>
              <a:sym typeface="Raleway"/>
            </a:endParaRPr>
          </a:p>
          <a:p>
            <a:pPr algn="l">
              <a:lnSpc>
                <a:spcPts val="4200"/>
              </a:lnSpc>
              <a:spcBef>
                <a:spcPct val="0"/>
              </a:spcBef>
            </a:pPr>
            <a:r>
              <a:rPr lang="en-US" sz="3000">
                <a:solidFill>
                  <a:srgbClr val="000000"/>
                </a:solidFill>
                <a:latin typeface="Raleway"/>
                <a:ea typeface="Raleway"/>
                <a:cs typeface="Raleway"/>
                <a:sym typeface="Raleway"/>
              </a:rPr>
              <a:t>The goal is to help understand </a:t>
            </a:r>
            <a:r>
              <a:rPr lang="en-US" sz="3000" b="1">
                <a:solidFill>
                  <a:srgbClr val="000000"/>
                </a:solidFill>
                <a:latin typeface="Raleway Bold"/>
                <a:ea typeface="Raleway Bold"/>
                <a:cs typeface="Raleway Bold"/>
                <a:sym typeface="Raleway Bold"/>
              </a:rPr>
              <a:t>airline and airport-level performance</a:t>
            </a:r>
            <a:r>
              <a:rPr lang="en-US" sz="3000">
                <a:solidFill>
                  <a:srgbClr val="000000"/>
                </a:solidFill>
                <a:latin typeface="Raleway"/>
                <a:ea typeface="Raleway"/>
                <a:cs typeface="Raleway"/>
                <a:sym typeface="Raleway"/>
              </a:rPr>
              <a:t> and contribute to </a:t>
            </a:r>
            <a:r>
              <a:rPr lang="en-US" sz="3000" b="1">
                <a:solidFill>
                  <a:srgbClr val="000000"/>
                </a:solidFill>
                <a:latin typeface="Raleway Bold"/>
                <a:ea typeface="Raleway Bold"/>
                <a:cs typeface="Raleway Bold"/>
                <a:sym typeface="Raleway Bold"/>
              </a:rPr>
              <a:t>actionable insights</a:t>
            </a:r>
            <a:r>
              <a:rPr lang="en-US" sz="3000">
                <a:solidFill>
                  <a:srgbClr val="000000"/>
                </a:solidFill>
                <a:latin typeface="Raleway"/>
                <a:ea typeface="Raleway"/>
                <a:cs typeface="Raleway"/>
                <a:sym typeface="Raleway"/>
              </a:rPr>
              <a:t> using visual analysis</a:t>
            </a:r>
          </a:p>
        </p:txBody>
      </p:sp>
      <p:sp>
        <p:nvSpPr>
          <p:cNvPr id="4" name="Freeform 4"/>
          <p:cNvSpPr/>
          <p:nvPr/>
        </p:nvSpPr>
        <p:spPr>
          <a:xfrm>
            <a:off x="-2056004" y="-6649059"/>
            <a:ext cx="7726199" cy="9882348"/>
          </a:xfrm>
          <a:custGeom>
            <a:avLst/>
            <a:gdLst/>
            <a:ahLst/>
            <a:cxnLst/>
            <a:rect l="l" t="t" r="r" b="b"/>
            <a:pathLst>
              <a:path w="7726199" h="9882348">
                <a:moveTo>
                  <a:pt x="0" y="0"/>
                </a:moveTo>
                <a:lnTo>
                  <a:pt x="7726199" y="0"/>
                </a:lnTo>
                <a:lnTo>
                  <a:pt x="7726199" y="9882348"/>
                </a:lnTo>
                <a:lnTo>
                  <a:pt x="0" y="988234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TextBox 5"/>
          <p:cNvSpPr txBox="1"/>
          <p:nvPr/>
        </p:nvSpPr>
        <p:spPr>
          <a:xfrm>
            <a:off x="6361569" y="1322246"/>
            <a:ext cx="5564861" cy="679451"/>
          </a:xfrm>
          <a:prstGeom prst="rect">
            <a:avLst/>
          </a:prstGeom>
        </p:spPr>
        <p:txBody>
          <a:bodyPr lIns="0" tIns="0" rIns="0" bIns="0" rtlCol="0" anchor="t">
            <a:spAutoFit/>
          </a:bodyPr>
          <a:lstStyle/>
          <a:p>
            <a:pPr algn="ctr">
              <a:lnSpc>
                <a:spcPts val="5599"/>
              </a:lnSpc>
              <a:spcBef>
                <a:spcPct val="0"/>
              </a:spcBef>
            </a:pPr>
            <a:r>
              <a:rPr lang="en-US" sz="3999" b="1">
                <a:solidFill>
                  <a:srgbClr val="000000"/>
                </a:solidFill>
                <a:latin typeface="Raleway Bold"/>
                <a:ea typeface="Raleway Bold"/>
                <a:cs typeface="Raleway Bold"/>
                <a:sym typeface="Raleway Bold"/>
              </a:rPr>
              <a:t>Project Statement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144000" cy="10287000"/>
            <a:chOff x="0" y="0"/>
            <a:chExt cx="2408296" cy="2709333"/>
          </a:xfrm>
        </p:grpSpPr>
        <p:sp>
          <p:nvSpPr>
            <p:cNvPr id="3" name="Freeform 3"/>
            <p:cNvSpPr/>
            <p:nvPr/>
          </p:nvSpPr>
          <p:spPr>
            <a:xfrm>
              <a:off x="0" y="0"/>
              <a:ext cx="2408296" cy="2709333"/>
            </a:xfrm>
            <a:custGeom>
              <a:avLst/>
              <a:gdLst/>
              <a:ahLst/>
              <a:cxnLst/>
              <a:rect l="l" t="t" r="r" b="b"/>
              <a:pathLst>
                <a:path w="2408296" h="2709333">
                  <a:moveTo>
                    <a:pt x="0" y="0"/>
                  </a:moveTo>
                  <a:lnTo>
                    <a:pt x="2408296" y="0"/>
                  </a:lnTo>
                  <a:lnTo>
                    <a:pt x="2408296" y="2709333"/>
                  </a:lnTo>
                  <a:lnTo>
                    <a:pt x="0" y="2709333"/>
                  </a:lnTo>
                  <a:close/>
                </a:path>
              </a:pathLst>
            </a:custGeom>
            <a:solidFill>
              <a:srgbClr val="CFE8FF"/>
            </a:solidFill>
          </p:spPr>
        </p:sp>
        <p:sp>
          <p:nvSpPr>
            <p:cNvPr id="4" name="TextBox 4"/>
            <p:cNvSpPr txBox="1"/>
            <p:nvPr/>
          </p:nvSpPr>
          <p:spPr>
            <a:xfrm>
              <a:off x="0" y="-57150"/>
              <a:ext cx="2408296"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5965445" y="521900"/>
            <a:ext cx="6699789" cy="1380157"/>
          </a:xfrm>
          <a:custGeom>
            <a:avLst/>
            <a:gdLst/>
            <a:ahLst/>
            <a:cxnLst/>
            <a:rect l="l" t="t" r="r" b="b"/>
            <a:pathLst>
              <a:path w="6699789" h="1380157">
                <a:moveTo>
                  <a:pt x="0" y="0"/>
                </a:moveTo>
                <a:lnTo>
                  <a:pt x="6699788" y="0"/>
                </a:lnTo>
                <a:lnTo>
                  <a:pt x="6699788" y="1380157"/>
                </a:lnTo>
                <a:lnTo>
                  <a:pt x="0" y="1380157"/>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682192" y="2372326"/>
            <a:ext cx="7779555" cy="7390287"/>
            <a:chOff x="0" y="0"/>
            <a:chExt cx="2048936" cy="1946413"/>
          </a:xfrm>
        </p:grpSpPr>
        <p:sp>
          <p:nvSpPr>
            <p:cNvPr id="7" name="Freeform 7"/>
            <p:cNvSpPr/>
            <p:nvPr/>
          </p:nvSpPr>
          <p:spPr>
            <a:xfrm>
              <a:off x="0" y="0"/>
              <a:ext cx="2048936" cy="1946413"/>
            </a:xfrm>
            <a:custGeom>
              <a:avLst/>
              <a:gdLst/>
              <a:ahLst/>
              <a:cxnLst/>
              <a:rect l="l" t="t" r="r" b="b"/>
              <a:pathLst>
                <a:path w="2048936" h="1946413">
                  <a:moveTo>
                    <a:pt x="50753" y="0"/>
                  </a:moveTo>
                  <a:lnTo>
                    <a:pt x="1998183" y="0"/>
                  </a:lnTo>
                  <a:cubicBezTo>
                    <a:pt x="2011644" y="0"/>
                    <a:pt x="2024553" y="5347"/>
                    <a:pt x="2034071" y="14865"/>
                  </a:cubicBezTo>
                  <a:cubicBezTo>
                    <a:pt x="2043589" y="24383"/>
                    <a:pt x="2048936" y="37293"/>
                    <a:pt x="2048936" y="50753"/>
                  </a:cubicBezTo>
                  <a:lnTo>
                    <a:pt x="2048936" y="1895660"/>
                  </a:lnTo>
                  <a:cubicBezTo>
                    <a:pt x="2048936" y="1923690"/>
                    <a:pt x="2026213" y="1946413"/>
                    <a:pt x="1998183" y="1946413"/>
                  </a:cubicBezTo>
                  <a:lnTo>
                    <a:pt x="50753" y="1946413"/>
                  </a:lnTo>
                  <a:cubicBezTo>
                    <a:pt x="22723" y="1946413"/>
                    <a:pt x="0" y="1923690"/>
                    <a:pt x="0" y="1895660"/>
                  </a:cubicBezTo>
                  <a:lnTo>
                    <a:pt x="0" y="50753"/>
                  </a:lnTo>
                  <a:cubicBezTo>
                    <a:pt x="0" y="22723"/>
                    <a:pt x="22723" y="0"/>
                    <a:pt x="50753" y="0"/>
                  </a:cubicBezTo>
                  <a:close/>
                </a:path>
              </a:pathLst>
            </a:custGeom>
            <a:solidFill>
              <a:srgbClr val="FFFFFF"/>
            </a:solidFill>
            <a:ln w="28575" cap="rnd">
              <a:solidFill>
                <a:srgbClr val="000000"/>
              </a:solidFill>
              <a:prstDash val="solid"/>
              <a:round/>
            </a:ln>
          </p:spPr>
        </p:sp>
        <p:sp>
          <p:nvSpPr>
            <p:cNvPr id="8" name="TextBox 8"/>
            <p:cNvSpPr txBox="1"/>
            <p:nvPr/>
          </p:nvSpPr>
          <p:spPr>
            <a:xfrm>
              <a:off x="0" y="-57150"/>
              <a:ext cx="2048936" cy="2003563"/>
            </a:xfrm>
            <a:prstGeom prst="rect">
              <a:avLst/>
            </a:prstGeom>
          </p:spPr>
          <p:txBody>
            <a:bodyPr lIns="50800" tIns="50800" rIns="50800" bIns="50800" rtlCol="0" anchor="ctr"/>
            <a:lstStyle/>
            <a:p>
              <a:pPr algn="ctr">
                <a:lnSpc>
                  <a:spcPts val="2940"/>
                </a:lnSpc>
              </a:pPr>
              <a:endParaRPr/>
            </a:p>
          </p:txBody>
        </p:sp>
      </p:grpSp>
      <p:grpSp>
        <p:nvGrpSpPr>
          <p:cNvPr id="9" name="Group 9"/>
          <p:cNvGrpSpPr/>
          <p:nvPr/>
        </p:nvGrpSpPr>
        <p:grpSpPr>
          <a:xfrm>
            <a:off x="9793553" y="2372326"/>
            <a:ext cx="7779555" cy="7390287"/>
            <a:chOff x="0" y="0"/>
            <a:chExt cx="2048936" cy="1946413"/>
          </a:xfrm>
        </p:grpSpPr>
        <p:sp>
          <p:nvSpPr>
            <p:cNvPr id="10" name="Freeform 10"/>
            <p:cNvSpPr/>
            <p:nvPr/>
          </p:nvSpPr>
          <p:spPr>
            <a:xfrm>
              <a:off x="0" y="0"/>
              <a:ext cx="2048936" cy="1946413"/>
            </a:xfrm>
            <a:custGeom>
              <a:avLst/>
              <a:gdLst/>
              <a:ahLst/>
              <a:cxnLst/>
              <a:rect l="l" t="t" r="r" b="b"/>
              <a:pathLst>
                <a:path w="2048936" h="1946413">
                  <a:moveTo>
                    <a:pt x="50753" y="0"/>
                  </a:moveTo>
                  <a:lnTo>
                    <a:pt x="1998183" y="0"/>
                  </a:lnTo>
                  <a:cubicBezTo>
                    <a:pt x="2011644" y="0"/>
                    <a:pt x="2024553" y="5347"/>
                    <a:pt x="2034071" y="14865"/>
                  </a:cubicBezTo>
                  <a:cubicBezTo>
                    <a:pt x="2043589" y="24383"/>
                    <a:pt x="2048936" y="37293"/>
                    <a:pt x="2048936" y="50753"/>
                  </a:cubicBezTo>
                  <a:lnTo>
                    <a:pt x="2048936" y="1895660"/>
                  </a:lnTo>
                  <a:cubicBezTo>
                    <a:pt x="2048936" y="1923690"/>
                    <a:pt x="2026213" y="1946413"/>
                    <a:pt x="1998183" y="1946413"/>
                  </a:cubicBezTo>
                  <a:lnTo>
                    <a:pt x="50753" y="1946413"/>
                  </a:lnTo>
                  <a:cubicBezTo>
                    <a:pt x="22723" y="1946413"/>
                    <a:pt x="0" y="1923690"/>
                    <a:pt x="0" y="1895660"/>
                  </a:cubicBezTo>
                  <a:lnTo>
                    <a:pt x="0" y="50753"/>
                  </a:lnTo>
                  <a:cubicBezTo>
                    <a:pt x="0" y="22723"/>
                    <a:pt x="22723" y="0"/>
                    <a:pt x="50753" y="0"/>
                  </a:cubicBezTo>
                  <a:close/>
                </a:path>
              </a:pathLst>
            </a:custGeom>
            <a:solidFill>
              <a:srgbClr val="CFE8FF"/>
            </a:solidFill>
            <a:ln w="28575" cap="rnd">
              <a:solidFill>
                <a:srgbClr val="000000"/>
              </a:solidFill>
              <a:prstDash val="solid"/>
              <a:round/>
            </a:ln>
          </p:spPr>
        </p:sp>
        <p:sp>
          <p:nvSpPr>
            <p:cNvPr id="11" name="TextBox 11"/>
            <p:cNvSpPr txBox="1"/>
            <p:nvPr/>
          </p:nvSpPr>
          <p:spPr>
            <a:xfrm>
              <a:off x="0" y="-57150"/>
              <a:ext cx="2048936" cy="2003563"/>
            </a:xfrm>
            <a:prstGeom prst="rect">
              <a:avLst/>
            </a:prstGeom>
          </p:spPr>
          <p:txBody>
            <a:bodyPr lIns="50800" tIns="50800" rIns="50800" bIns="50800" rtlCol="0" anchor="ctr"/>
            <a:lstStyle/>
            <a:p>
              <a:pPr algn="ctr">
                <a:lnSpc>
                  <a:spcPts val="2940"/>
                </a:lnSpc>
              </a:pPr>
              <a:endParaRPr/>
            </a:p>
          </p:txBody>
        </p:sp>
      </p:grpSp>
      <p:sp>
        <p:nvSpPr>
          <p:cNvPr id="12" name="Freeform 12"/>
          <p:cNvSpPr/>
          <p:nvPr/>
        </p:nvSpPr>
        <p:spPr>
          <a:xfrm flipH="1">
            <a:off x="12903027" y="865031"/>
            <a:ext cx="5384973" cy="1037026"/>
          </a:xfrm>
          <a:custGeom>
            <a:avLst/>
            <a:gdLst/>
            <a:ahLst/>
            <a:cxnLst/>
            <a:rect l="l" t="t" r="r" b="b"/>
            <a:pathLst>
              <a:path w="5384973" h="1037026">
                <a:moveTo>
                  <a:pt x="5384973" y="0"/>
                </a:moveTo>
                <a:lnTo>
                  <a:pt x="0" y="0"/>
                </a:lnTo>
                <a:lnTo>
                  <a:pt x="0" y="1037026"/>
                </a:lnTo>
                <a:lnTo>
                  <a:pt x="5384973" y="1037026"/>
                </a:lnTo>
                <a:lnTo>
                  <a:pt x="5384973" y="0"/>
                </a:lnTo>
                <a:close/>
              </a:path>
            </a:pathLst>
          </a:custGeom>
          <a:blipFill>
            <a:blip>
              <a:extLst>
                <a:ext uri="{96DAC541-7B7A-43D3-8B79-37D633B846F1}">
                  <asvg:svgBlip xmlns:asvg="http://schemas.microsoft.com/office/drawing/2016/SVG/main" r:embed="rId3"/>
                </a:ext>
              </a:extLst>
            </a:blip>
            <a:stretch>
              <a:fillRect/>
            </a:stretch>
          </a:blipFill>
        </p:spPr>
      </p:sp>
      <p:sp>
        <p:nvSpPr>
          <p:cNvPr id="13" name="TextBox 13"/>
          <p:cNvSpPr txBox="1"/>
          <p:nvPr/>
        </p:nvSpPr>
        <p:spPr>
          <a:xfrm>
            <a:off x="3958180" y="962025"/>
            <a:ext cx="10620376" cy="507365"/>
          </a:xfrm>
          <a:prstGeom prst="rect">
            <a:avLst/>
          </a:prstGeom>
        </p:spPr>
        <p:txBody>
          <a:bodyPr lIns="0" tIns="0" rIns="0" bIns="0" rtlCol="0" anchor="t">
            <a:spAutoFit/>
          </a:bodyPr>
          <a:lstStyle/>
          <a:p>
            <a:pPr algn="ctr">
              <a:lnSpc>
                <a:spcPts val="4060"/>
              </a:lnSpc>
              <a:spcBef>
                <a:spcPct val="0"/>
              </a:spcBef>
            </a:pPr>
            <a:r>
              <a:rPr lang="en-US" sz="2900" b="1">
                <a:solidFill>
                  <a:srgbClr val="000000"/>
                </a:solidFill>
                <a:latin typeface="Raleway Bold"/>
                <a:ea typeface="Raleway Bold"/>
                <a:cs typeface="Raleway Bold"/>
                <a:sym typeface="Raleway Bold"/>
              </a:rPr>
              <a:t>Data Acquisition and Understanding</a:t>
            </a:r>
          </a:p>
        </p:txBody>
      </p:sp>
      <p:sp>
        <p:nvSpPr>
          <p:cNvPr id="14" name="TextBox 14"/>
          <p:cNvSpPr txBox="1"/>
          <p:nvPr/>
        </p:nvSpPr>
        <p:spPr>
          <a:xfrm>
            <a:off x="1028700" y="2523346"/>
            <a:ext cx="7086539" cy="2124075"/>
          </a:xfrm>
          <a:prstGeom prst="rect">
            <a:avLst/>
          </a:prstGeom>
        </p:spPr>
        <p:txBody>
          <a:bodyPr lIns="0" tIns="0" rIns="0" bIns="0" rtlCol="0" anchor="t">
            <a:spAutoFit/>
          </a:bodyPr>
          <a:lstStyle/>
          <a:p>
            <a:pPr algn="l">
              <a:lnSpc>
                <a:spcPts val="4200"/>
              </a:lnSpc>
              <a:spcBef>
                <a:spcPct val="0"/>
              </a:spcBef>
            </a:pPr>
            <a:r>
              <a:rPr lang="en-US" sz="3000" b="1">
                <a:solidFill>
                  <a:srgbClr val="000000"/>
                </a:solidFill>
                <a:latin typeface="Raleway Bold"/>
                <a:ea typeface="Raleway Bold"/>
                <a:cs typeface="Raleway Bold"/>
                <a:sym typeface="Raleway Bold"/>
              </a:rPr>
              <a:t>Dataset Source (Kaggle)</a:t>
            </a:r>
          </a:p>
          <a:p>
            <a:pPr marL="647700" lvl="1" indent="-323850" algn="l">
              <a:lnSpc>
                <a:spcPts val="4200"/>
              </a:lnSpc>
              <a:buFont typeface="Arial"/>
              <a:buChar char="•"/>
            </a:pPr>
            <a:r>
              <a:rPr lang="en-US" sz="3000">
                <a:solidFill>
                  <a:srgbClr val="000000"/>
                </a:solidFill>
                <a:latin typeface="Raleway"/>
                <a:ea typeface="Raleway"/>
                <a:cs typeface="Raleway"/>
                <a:sym typeface="Raleway"/>
              </a:rPr>
              <a:t>Chosen for its large, reliable, and well-organized flight data.</a:t>
            </a:r>
          </a:p>
          <a:p>
            <a:pPr marL="647700" lvl="1" indent="-323850" algn="l">
              <a:lnSpc>
                <a:spcPts val="4200"/>
              </a:lnSpc>
              <a:buFont typeface="Arial"/>
              <a:buChar char="•"/>
            </a:pPr>
            <a:r>
              <a:rPr lang="en-US" sz="3000">
                <a:solidFill>
                  <a:srgbClr val="000000"/>
                </a:solidFill>
                <a:latin typeface="Raleway"/>
                <a:ea typeface="Raleway"/>
                <a:cs typeface="Raleway"/>
                <a:sym typeface="Raleway"/>
              </a:rPr>
              <a:t>Contains 484,552 rows x 30 columns, </a:t>
            </a:r>
          </a:p>
        </p:txBody>
      </p:sp>
      <p:sp>
        <p:nvSpPr>
          <p:cNvPr id="15" name="TextBox 15"/>
          <p:cNvSpPr txBox="1"/>
          <p:nvPr/>
        </p:nvSpPr>
        <p:spPr>
          <a:xfrm>
            <a:off x="1104273" y="5268711"/>
            <a:ext cx="6935454" cy="4257675"/>
          </a:xfrm>
          <a:prstGeom prst="rect">
            <a:avLst/>
          </a:prstGeom>
        </p:spPr>
        <p:txBody>
          <a:bodyPr lIns="0" tIns="0" rIns="0" bIns="0" rtlCol="0" anchor="t">
            <a:spAutoFit/>
          </a:bodyPr>
          <a:lstStyle/>
          <a:p>
            <a:pPr algn="l">
              <a:lnSpc>
                <a:spcPts val="4200"/>
              </a:lnSpc>
              <a:spcBef>
                <a:spcPct val="0"/>
              </a:spcBef>
            </a:pPr>
            <a:r>
              <a:rPr lang="en-US" sz="3000" b="1">
                <a:solidFill>
                  <a:srgbClr val="000000"/>
                </a:solidFill>
                <a:latin typeface="Raleway Bold"/>
                <a:ea typeface="Raleway Bold"/>
                <a:cs typeface="Raleway Bold"/>
                <a:sym typeface="Raleway Bold"/>
              </a:rPr>
              <a:t>Why This Dataset?</a:t>
            </a:r>
          </a:p>
          <a:p>
            <a:pPr marL="647700" lvl="1" indent="-323850" algn="l">
              <a:lnSpc>
                <a:spcPts val="4200"/>
              </a:lnSpc>
              <a:buFont typeface="Arial"/>
              <a:buChar char="•"/>
            </a:pPr>
            <a:r>
              <a:rPr lang="en-US" sz="3000">
                <a:solidFill>
                  <a:srgbClr val="000000"/>
                </a:solidFill>
                <a:latin typeface="Raleway"/>
                <a:ea typeface="Raleway"/>
                <a:cs typeface="Raleway"/>
                <a:sym typeface="Raleway"/>
              </a:rPr>
              <a:t>Comprehensive coverage of U.S. domestic flights.</a:t>
            </a:r>
          </a:p>
          <a:p>
            <a:pPr marL="647700" lvl="1" indent="-323850" algn="l">
              <a:lnSpc>
                <a:spcPts val="4200"/>
              </a:lnSpc>
              <a:buFont typeface="Arial"/>
              <a:buChar char="•"/>
            </a:pPr>
            <a:r>
              <a:rPr lang="en-US" sz="3000">
                <a:solidFill>
                  <a:srgbClr val="000000"/>
                </a:solidFill>
                <a:latin typeface="Raleway"/>
                <a:ea typeface="Raleway"/>
                <a:cs typeface="Raleway"/>
                <a:sym typeface="Raleway"/>
              </a:rPr>
              <a:t>Includes detailed delay categories and cancellation reasons.</a:t>
            </a:r>
          </a:p>
          <a:p>
            <a:pPr marL="647700" lvl="1" indent="-323850" algn="l">
              <a:lnSpc>
                <a:spcPts val="4200"/>
              </a:lnSpc>
              <a:buFont typeface="Arial"/>
              <a:buChar char="•"/>
            </a:pPr>
            <a:r>
              <a:rPr lang="en-US" sz="3000">
                <a:solidFill>
                  <a:srgbClr val="000000"/>
                </a:solidFill>
                <a:latin typeface="Raleway"/>
                <a:ea typeface="Raleway"/>
                <a:cs typeface="Raleway"/>
                <a:sym typeface="Raleway"/>
              </a:rPr>
              <a:t>Suitable for trend analysis, operational insights, and visualization.</a:t>
            </a:r>
          </a:p>
        </p:txBody>
      </p:sp>
      <p:sp>
        <p:nvSpPr>
          <p:cNvPr id="16" name="TextBox 16"/>
          <p:cNvSpPr txBox="1"/>
          <p:nvPr/>
        </p:nvSpPr>
        <p:spPr>
          <a:xfrm>
            <a:off x="10078634" y="2472734"/>
            <a:ext cx="7180666" cy="7132320"/>
          </a:xfrm>
          <a:prstGeom prst="rect">
            <a:avLst/>
          </a:prstGeom>
        </p:spPr>
        <p:txBody>
          <a:bodyPr lIns="0" tIns="0" rIns="0" bIns="0" rtlCol="0" anchor="t">
            <a:spAutoFit/>
          </a:bodyPr>
          <a:lstStyle/>
          <a:p>
            <a:pPr algn="l">
              <a:lnSpc>
                <a:spcPts val="3780"/>
              </a:lnSpc>
              <a:spcBef>
                <a:spcPct val="0"/>
              </a:spcBef>
            </a:pPr>
            <a:r>
              <a:rPr lang="en-US" sz="2700" b="1">
                <a:solidFill>
                  <a:srgbClr val="000000"/>
                </a:solidFill>
                <a:latin typeface="Raleway Bold"/>
                <a:ea typeface="Raleway Bold"/>
                <a:cs typeface="Raleway Bold"/>
                <a:sym typeface="Raleway Bold"/>
              </a:rPr>
              <a:t>Initial Data Exploration</a:t>
            </a:r>
          </a:p>
          <a:p>
            <a:pPr marL="582932" lvl="1" indent="-291466" algn="l">
              <a:lnSpc>
                <a:spcPts val="3780"/>
              </a:lnSpc>
              <a:buFont typeface="Arial"/>
              <a:buChar char="•"/>
            </a:pPr>
            <a:r>
              <a:rPr lang="en-US" sz="2700" b="1">
                <a:solidFill>
                  <a:srgbClr val="000000"/>
                </a:solidFill>
                <a:latin typeface="Raleway Bold"/>
                <a:ea typeface="Raleway Bold"/>
                <a:cs typeface="Raleway Bold"/>
                <a:sym typeface="Raleway Bold"/>
              </a:rPr>
              <a:t>Defined goals, KPIs, and workflow - </a:t>
            </a:r>
            <a:r>
              <a:rPr lang="en-US" sz="2700">
                <a:solidFill>
                  <a:srgbClr val="000000"/>
                </a:solidFill>
                <a:latin typeface="Raleway"/>
                <a:ea typeface="Raleway"/>
                <a:cs typeface="Raleway"/>
                <a:sym typeface="Raleway"/>
              </a:rPr>
              <a:t>Set the project direction and identified key metrics to focus on.</a:t>
            </a:r>
          </a:p>
          <a:p>
            <a:pPr marL="582932" lvl="1" indent="-291466" algn="l">
              <a:lnSpc>
                <a:spcPts val="3780"/>
              </a:lnSpc>
              <a:buFont typeface="Arial"/>
              <a:buChar char="•"/>
            </a:pPr>
            <a:r>
              <a:rPr lang="en-US" sz="2700" b="1">
                <a:solidFill>
                  <a:srgbClr val="000000"/>
                </a:solidFill>
                <a:latin typeface="Raleway Bold"/>
                <a:ea typeface="Raleway Bold"/>
                <a:cs typeface="Raleway Bold"/>
                <a:sym typeface="Raleway Bold"/>
              </a:rPr>
              <a:t>Loaded data using pandas - </a:t>
            </a:r>
            <a:r>
              <a:rPr lang="en-US" sz="2700">
                <a:solidFill>
                  <a:srgbClr val="000000"/>
                </a:solidFill>
                <a:latin typeface="Raleway"/>
                <a:ea typeface="Raleway"/>
                <a:cs typeface="Raleway"/>
                <a:sym typeface="Raleway"/>
              </a:rPr>
              <a:t>Imported the dataset into Python for easy handling and analysis.</a:t>
            </a:r>
          </a:p>
          <a:p>
            <a:pPr marL="582932" lvl="1" indent="-291466" algn="l">
              <a:lnSpc>
                <a:spcPts val="3780"/>
              </a:lnSpc>
              <a:buFont typeface="Arial"/>
              <a:buChar char="•"/>
            </a:pPr>
            <a:r>
              <a:rPr lang="en-US" sz="2700" b="1">
                <a:solidFill>
                  <a:srgbClr val="000000"/>
                </a:solidFill>
                <a:latin typeface="Raleway Bold"/>
                <a:ea typeface="Raleway Bold"/>
                <a:cs typeface="Raleway Bold"/>
                <a:sym typeface="Raleway Bold"/>
              </a:rPr>
              <a:t>Checked schema, data types, size, and null values - </a:t>
            </a:r>
            <a:r>
              <a:rPr lang="en-US" sz="2700">
                <a:solidFill>
                  <a:srgbClr val="000000"/>
                </a:solidFill>
                <a:latin typeface="Raleway"/>
                <a:ea typeface="Raleway"/>
                <a:cs typeface="Raleway"/>
                <a:sym typeface="Raleway"/>
              </a:rPr>
              <a:t>Reviewed the structure, column types, dataset size, and missing data.</a:t>
            </a:r>
          </a:p>
          <a:p>
            <a:pPr marL="582932" lvl="1" indent="-291466" algn="l">
              <a:lnSpc>
                <a:spcPts val="3780"/>
              </a:lnSpc>
              <a:buFont typeface="Arial"/>
              <a:buChar char="•"/>
            </a:pPr>
            <a:r>
              <a:rPr lang="en-US" sz="2700" b="1">
                <a:solidFill>
                  <a:srgbClr val="000000"/>
                </a:solidFill>
                <a:latin typeface="Raleway Bold"/>
                <a:ea typeface="Raleway Bold"/>
                <a:cs typeface="Raleway Bold"/>
                <a:sym typeface="Raleway Bold"/>
              </a:rPr>
              <a:t>Performed sampling and memory optimization - </a:t>
            </a:r>
            <a:r>
              <a:rPr lang="en-US" sz="2700">
                <a:solidFill>
                  <a:srgbClr val="000000"/>
                </a:solidFill>
                <a:latin typeface="Raleway"/>
                <a:ea typeface="Raleway"/>
                <a:cs typeface="Raleway"/>
                <a:sym typeface="Raleway"/>
              </a:rPr>
              <a:t>Reduced memory load and created smaller samples for faster processing.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CFE8FF"/>
        </a:solidFill>
        <a:effectLst/>
      </p:bgPr>
    </p:bg>
    <p:spTree>
      <p:nvGrpSpPr>
        <p:cNvPr id="1" name=""/>
        <p:cNvGrpSpPr/>
        <p:nvPr/>
      </p:nvGrpSpPr>
      <p:grpSpPr>
        <a:xfrm>
          <a:off x="0" y="0"/>
          <a:ext cx="0" cy="0"/>
          <a:chOff x="0" y="0"/>
          <a:chExt cx="0" cy="0"/>
        </a:xfrm>
      </p:grpSpPr>
      <p:grpSp>
        <p:nvGrpSpPr>
          <p:cNvPr id="2" name="Group 2"/>
          <p:cNvGrpSpPr/>
          <p:nvPr/>
        </p:nvGrpSpPr>
        <p:grpSpPr>
          <a:xfrm>
            <a:off x="0" y="6587198"/>
            <a:ext cx="18288000" cy="3699802"/>
            <a:chOff x="0" y="0"/>
            <a:chExt cx="4816593" cy="974433"/>
          </a:xfrm>
        </p:grpSpPr>
        <p:sp>
          <p:nvSpPr>
            <p:cNvPr id="3" name="Freeform 3"/>
            <p:cNvSpPr/>
            <p:nvPr/>
          </p:nvSpPr>
          <p:spPr>
            <a:xfrm>
              <a:off x="0" y="0"/>
              <a:ext cx="4816592" cy="974433"/>
            </a:xfrm>
            <a:custGeom>
              <a:avLst/>
              <a:gdLst/>
              <a:ahLst/>
              <a:cxnLst/>
              <a:rect l="l" t="t" r="r" b="b"/>
              <a:pathLst>
                <a:path w="4816592" h="974433">
                  <a:moveTo>
                    <a:pt x="0" y="0"/>
                  </a:moveTo>
                  <a:lnTo>
                    <a:pt x="4816592" y="0"/>
                  </a:lnTo>
                  <a:lnTo>
                    <a:pt x="4816592" y="974433"/>
                  </a:lnTo>
                  <a:lnTo>
                    <a:pt x="0" y="974433"/>
                  </a:lnTo>
                  <a:close/>
                </a:path>
              </a:pathLst>
            </a:custGeom>
            <a:solidFill>
              <a:srgbClr val="FFFFFF"/>
            </a:solidFill>
          </p:spPr>
        </p:sp>
        <p:sp>
          <p:nvSpPr>
            <p:cNvPr id="4" name="TextBox 4"/>
            <p:cNvSpPr txBox="1"/>
            <p:nvPr/>
          </p:nvSpPr>
          <p:spPr>
            <a:xfrm>
              <a:off x="0" y="-57150"/>
              <a:ext cx="4816593" cy="10315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5101189" y="423730"/>
            <a:ext cx="8380861" cy="1726457"/>
          </a:xfrm>
          <a:custGeom>
            <a:avLst/>
            <a:gdLst/>
            <a:ahLst/>
            <a:cxnLst/>
            <a:rect l="l" t="t" r="r" b="b"/>
            <a:pathLst>
              <a:path w="8380861" h="1726457">
                <a:moveTo>
                  <a:pt x="0" y="0"/>
                </a:moveTo>
                <a:lnTo>
                  <a:pt x="8380861" y="0"/>
                </a:lnTo>
                <a:lnTo>
                  <a:pt x="8380861" y="1726457"/>
                </a:lnTo>
                <a:lnTo>
                  <a:pt x="0" y="172645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484956" y="5143500"/>
            <a:ext cx="5167219" cy="3064281"/>
          </a:xfrm>
          <a:custGeom>
            <a:avLst/>
            <a:gdLst/>
            <a:ahLst/>
            <a:cxnLst/>
            <a:rect l="l" t="t" r="r" b="b"/>
            <a:pathLst>
              <a:path w="5167219" h="3064281">
                <a:moveTo>
                  <a:pt x="0" y="0"/>
                </a:moveTo>
                <a:lnTo>
                  <a:pt x="5167219" y="0"/>
                </a:lnTo>
                <a:lnTo>
                  <a:pt x="5167219" y="3064281"/>
                </a:lnTo>
                <a:lnTo>
                  <a:pt x="0" y="3064281"/>
                </a:lnTo>
                <a:lnTo>
                  <a:pt x="0" y="0"/>
                </a:lnTo>
                <a:close/>
              </a:path>
            </a:pathLst>
          </a:custGeom>
          <a:blipFill>
            <a:blip r:embed="rId3"/>
            <a:stretch>
              <a:fillRect/>
            </a:stretch>
          </a:blipFill>
        </p:spPr>
      </p:sp>
      <p:sp>
        <p:nvSpPr>
          <p:cNvPr id="7" name="Freeform 7"/>
          <p:cNvSpPr/>
          <p:nvPr/>
        </p:nvSpPr>
        <p:spPr>
          <a:xfrm>
            <a:off x="12017647" y="5143500"/>
            <a:ext cx="5706829" cy="3064281"/>
          </a:xfrm>
          <a:custGeom>
            <a:avLst/>
            <a:gdLst/>
            <a:ahLst/>
            <a:cxnLst/>
            <a:rect l="l" t="t" r="r" b="b"/>
            <a:pathLst>
              <a:path w="5706829" h="3064281">
                <a:moveTo>
                  <a:pt x="0" y="0"/>
                </a:moveTo>
                <a:lnTo>
                  <a:pt x="5706829" y="0"/>
                </a:lnTo>
                <a:lnTo>
                  <a:pt x="5706829" y="3064281"/>
                </a:lnTo>
                <a:lnTo>
                  <a:pt x="0" y="3064281"/>
                </a:lnTo>
                <a:lnTo>
                  <a:pt x="0" y="0"/>
                </a:lnTo>
                <a:close/>
              </a:path>
            </a:pathLst>
          </a:custGeom>
          <a:blipFill>
            <a:blip r:embed="rId4"/>
            <a:stretch>
              <a:fillRect l="-4460" r="-9423"/>
            </a:stretch>
          </a:blipFill>
        </p:spPr>
      </p:sp>
      <p:sp>
        <p:nvSpPr>
          <p:cNvPr id="8" name="Freeform 8"/>
          <p:cNvSpPr/>
          <p:nvPr/>
        </p:nvSpPr>
        <p:spPr>
          <a:xfrm>
            <a:off x="5383918" y="7513468"/>
            <a:ext cx="7520164" cy="2403945"/>
          </a:xfrm>
          <a:custGeom>
            <a:avLst/>
            <a:gdLst/>
            <a:ahLst/>
            <a:cxnLst/>
            <a:rect l="l" t="t" r="r" b="b"/>
            <a:pathLst>
              <a:path w="7520164" h="2403945">
                <a:moveTo>
                  <a:pt x="0" y="0"/>
                </a:moveTo>
                <a:lnTo>
                  <a:pt x="7520164" y="0"/>
                </a:lnTo>
                <a:lnTo>
                  <a:pt x="7520164" y="2403945"/>
                </a:lnTo>
                <a:lnTo>
                  <a:pt x="0" y="2403945"/>
                </a:lnTo>
                <a:lnTo>
                  <a:pt x="0" y="0"/>
                </a:lnTo>
                <a:close/>
              </a:path>
            </a:pathLst>
          </a:custGeom>
          <a:blipFill>
            <a:blip r:embed="rId5"/>
            <a:stretch>
              <a:fillRect r="-2691" b="-8420"/>
            </a:stretch>
          </a:blipFill>
        </p:spPr>
      </p:sp>
      <p:sp>
        <p:nvSpPr>
          <p:cNvPr id="9" name="Freeform 9"/>
          <p:cNvSpPr/>
          <p:nvPr/>
        </p:nvSpPr>
        <p:spPr>
          <a:xfrm>
            <a:off x="-6855041" y="423730"/>
            <a:ext cx="11443485" cy="7784051"/>
          </a:xfrm>
          <a:custGeom>
            <a:avLst/>
            <a:gdLst/>
            <a:ahLst/>
            <a:cxnLst/>
            <a:rect l="l" t="t" r="r" b="b"/>
            <a:pathLst>
              <a:path w="11443485" h="7784051">
                <a:moveTo>
                  <a:pt x="0" y="0"/>
                </a:moveTo>
                <a:lnTo>
                  <a:pt x="11443485" y="0"/>
                </a:lnTo>
                <a:lnTo>
                  <a:pt x="11443485" y="7784051"/>
                </a:lnTo>
                <a:lnTo>
                  <a:pt x="0" y="778405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10" name="TextBox 10"/>
          <p:cNvSpPr txBox="1"/>
          <p:nvPr/>
        </p:nvSpPr>
        <p:spPr>
          <a:xfrm>
            <a:off x="4219419" y="962410"/>
            <a:ext cx="9849162" cy="572897"/>
          </a:xfrm>
          <a:prstGeom prst="rect">
            <a:avLst/>
          </a:prstGeom>
        </p:spPr>
        <p:txBody>
          <a:bodyPr lIns="0" tIns="0" rIns="0" bIns="0" rtlCol="0" anchor="t">
            <a:spAutoFit/>
          </a:bodyPr>
          <a:lstStyle/>
          <a:p>
            <a:pPr algn="ctr">
              <a:lnSpc>
                <a:spcPts val="4648"/>
              </a:lnSpc>
              <a:spcBef>
                <a:spcPct val="0"/>
              </a:spcBef>
            </a:pPr>
            <a:r>
              <a:rPr lang="en-US" sz="3320" b="1">
                <a:solidFill>
                  <a:srgbClr val="000000"/>
                </a:solidFill>
                <a:latin typeface="Raleway Bold"/>
                <a:ea typeface="Raleway Bold"/>
                <a:cs typeface="Raleway Bold"/>
                <a:sym typeface="Raleway Bold"/>
              </a:rPr>
              <a:t>Data Cleaning and Feature Engineering</a:t>
            </a:r>
          </a:p>
        </p:txBody>
      </p:sp>
      <p:sp>
        <p:nvSpPr>
          <p:cNvPr id="11" name="TextBox 11"/>
          <p:cNvSpPr txBox="1"/>
          <p:nvPr/>
        </p:nvSpPr>
        <p:spPr>
          <a:xfrm>
            <a:off x="1517218" y="2831637"/>
            <a:ext cx="16207258" cy="2111797"/>
          </a:xfrm>
          <a:prstGeom prst="rect">
            <a:avLst/>
          </a:prstGeom>
        </p:spPr>
        <p:txBody>
          <a:bodyPr wrap="square" lIns="0" tIns="0" rIns="0" bIns="0" rtlCol="0" anchor="t">
            <a:spAutoFit/>
          </a:bodyPr>
          <a:lstStyle/>
          <a:p>
            <a:pPr marL="647697" lvl="1" indent="-323848" algn="l">
              <a:lnSpc>
                <a:spcPts val="4199"/>
              </a:lnSpc>
              <a:buFont typeface="Arial"/>
              <a:buChar char="•"/>
            </a:pPr>
            <a:r>
              <a:rPr lang="en-US" sz="2999" b="1" dirty="0">
                <a:solidFill>
                  <a:srgbClr val="000000"/>
                </a:solidFill>
                <a:latin typeface="Raleway Bold"/>
                <a:ea typeface="Raleway Bold"/>
                <a:cs typeface="Raleway Bold"/>
                <a:sym typeface="Raleway Bold"/>
              </a:rPr>
              <a:t>Handled nulls</a:t>
            </a:r>
            <a:r>
              <a:rPr lang="en-US" sz="2999" dirty="0">
                <a:solidFill>
                  <a:srgbClr val="000000"/>
                </a:solidFill>
                <a:latin typeface="Raleway"/>
                <a:ea typeface="Raleway"/>
                <a:cs typeface="Raleway"/>
                <a:sym typeface="Raleway"/>
              </a:rPr>
              <a:t> – Cleaned missing values in delay and cancellation columns.</a:t>
            </a:r>
          </a:p>
          <a:p>
            <a:pPr marL="647697" lvl="1" indent="-323848" algn="l">
              <a:lnSpc>
                <a:spcPts val="4199"/>
              </a:lnSpc>
              <a:buFont typeface="Arial"/>
              <a:buChar char="•"/>
            </a:pPr>
            <a:r>
              <a:rPr lang="en-US" sz="2999" b="1" dirty="0">
                <a:solidFill>
                  <a:srgbClr val="000000"/>
                </a:solidFill>
                <a:latin typeface="Raleway Bold"/>
                <a:ea typeface="Raleway Bold"/>
                <a:cs typeface="Raleway Bold"/>
                <a:sym typeface="Raleway Bold"/>
              </a:rPr>
              <a:t>Created features</a:t>
            </a:r>
            <a:r>
              <a:rPr lang="en-US" sz="2999" dirty="0">
                <a:solidFill>
                  <a:srgbClr val="000000"/>
                </a:solidFill>
                <a:latin typeface="Raleway"/>
                <a:ea typeface="Raleway"/>
                <a:cs typeface="Raleway"/>
                <a:sym typeface="Raleway"/>
              </a:rPr>
              <a:t> – Added Month, Day of Week, Hour, and Route for better analysis.</a:t>
            </a:r>
          </a:p>
          <a:p>
            <a:pPr marL="647697" lvl="1" indent="-323848" algn="l">
              <a:lnSpc>
                <a:spcPts val="4199"/>
              </a:lnSpc>
              <a:buFont typeface="Arial"/>
              <a:buChar char="•"/>
            </a:pPr>
            <a:r>
              <a:rPr lang="en-US" sz="2999" b="1" dirty="0">
                <a:solidFill>
                  <a:srgbClr val="000000"/>
                </a:solidFill>
                <a:latin typeface="Raleway Bold"/>
                <a:ea typeface="Raleway Bold"/>
                <a:cs typeface="Raleway Bold"/>
                <a:sym typeface="Raleway Bold"/>
              </a:rPr>
              <a:t>Formatted datetime</a:t>
            </a:r>
            <a:r>
              <a:rPr lang="en-US" sz="2999" dirty="0">
                <a:solidFill>
                  <a:srgbClr val="000000"/>
                </a:solidFill>
                <a:latin typeface="Raleway"/>
                <a:ea typeface="Raleway"/>
                <a:cs typeface="Raleway"/>
                <a:sym typeface="Raleway"/>
              </a:rPr>
              <a:t> – Converted time columns into proper datetime format.</a:t>
            </a:r>
          </a:p>
          <a:p>
            <a:pPr marL="647697" lvl="1" indent="-323848" algn="l">
              <a:lnSpc>
                <a:spcPts val="4199"/>
              </a:lnSpc>
              <a:buFont typeface="Arial"/>
              <a:buChar char="•"/>
            </a:pPr>
            <a:r>
              <a:rPr lang="en-US" sz="2999" b="1" dirty="0">
                <a:solidFill>
                  <a:srgbClr val="000000"/>
                </a:solidFill>
                <a:latin typeface="Raleway Bold"/>
                <a:ea typeface="Raleway Bold"/>
                <a:cs typeface="Raleway Bold"/>
                <a:sym typeface="Raleway Bold"/>
              </a:rPr>
              <a:t>Saved processed data</a:t>
            </a:r>
            <a:r>
              <a:rPr lang="en-US" sz="2999" dirty="0">
                <a:solidFill>
                  <a:srgbClr val="000000"/>
                </a:solidFill>
                <a:latin typeface="Raleway"/>
                <a:ea typeface="Raleway"/>
                <a:cs typeface="Raleway"/>
                <a:sym typeface="Raleway"/>
              </a:rPr>
              <a:t> – Stored the cleaned dataset for quicker future use.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CFE8FF"/>
        </a:solidFill>
        <a:effectLst/>
      </p:bgPr>
    </p:bg>
    <p:spTree>
      <p:nvGrpSpPr>
        <p:cNvPr id="1" name=""/>
        <p:cNvGrpSpPr/>
        <p:nvPr/>
      </p:nvGrpSpPr>
      <p:grpSpPr>
        <a:xfrm>
          <a:off x="0" y="0"/>
          <a:ext cx="0" cy="0"/>
          <a:chOff x="0" y="0"/>
          <a:chExt cx="0" cy="0"/>
        </a:xfrm>
      </p:grpSpPr>
      <p:sp>
        <p:nvSpPr>
          <p:cNvPr id="2" name="Freeform 2"/>
          <p:cNvSpPr/>
          <p:nvPr/>
        </p:nvSpPr>
        <p:spPr>
          <a:xfrm>
            <a:off x="5685949" y="406777"/>
            <a:ext cx="7294529" cy="1502673"/>
          </a:xfrm>
          <a:custGeom>
            <a:avLst/>
            <a:gdLst/>
            <a:ahLst/>
            <a:cxnLst/>
            <a:rect l="l" t="t" r="r" b="b"/>
            <a:pathLst>
              <a:path w="7294529" h="1502673">
                <a:moveTo>
                  <a:pt x="0" y="0"/>
                </a:moveTo>
                <a:lnTo>
                  <a:pt x="7294529" y="0"/>
                </a:lnTo>
                <a:lnTo>
                  <a:pt x="7294529" y="1502673"/>
                </a:lnTo>
                <a:lnTo>
                  <a:pt x="0" y="150267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Freeform 3"/>
          <p:cNvSpPr/>
          <p:nvPr/>
        </p:nvSpPr>
        <p:spPr>
          <a:xfrm>
            <a:off x="1028700" y="2190686"/>
            <a:ext cx="7841057" cy="7841057"/>
          </a:xfrm>
          <a:custGeom>
            <a:avLst/>
            <a:gdLst/>
            <a:ahLst/>
            <a:cxnLst/>
            <a:rect l="l" t="t" r="r" b="b"/>
            <a:pathLst>
              <a:path w="7841057" h="7841057">
                <a:moveTo>
                  <a:pt x="0" y="0"/>
                </a:moveTo>
                <a:lnTo>
                  <a:pt x="7841057" y="0"/>
                </a:lnTo>
                <a:lnTo>
                  <a:pt x="7841057" y="7841057"/>
                </a:lnTo>
                <a:lnTo>
                  <a:pt x="0" y="7841057"/>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4" name="Freeform 4"/>
          <p:cNvSpPr/>
          <p:nvPr/>
        </p:nvSpPr>
        <p:spPr>
          <a:xfrm>
            <a:off x="9313302" y="2207715"/>
            <a:ext cx="6871510" cy="3487291"/>
          </a:xfrm>
          <a:custGeom>
            <a:avLst/>
            <a:gdLst/>
            <a:ahLst/>
            <a:cxnLst/>
            <a:rect l="l" t="t" r="r" b="b"/>
            <a:pathLst>
              <a:path w="6871510" h="3487291">
                <a:moveTo>
                  <a:pt x="0" y="0"/>
                </a:moveTo>
                <a:lnTo>
                  <a:pt x="6871510" y="0"/>
                </a:lnTo>
                <a:lnTo>
                  <a:pt x="6871510" y="3487291"/>
                </a:lnTo>
                <a:lnTo>
                  <a:pt x="0" y="3487291"/>
                </a:lnTo>
                <a:lnTo>
                  <a:pt x="0" y="0"/>
                </a:lnTo>
                <a:close/>
              </a:path>
            </a:pathLst>
          </a:custGeom>
          <a:blipFill>
            <a:blip r:embed="rId4"/>
            <a:stretch>
              <a:fillRect/>
            </a:stretch>
          </a:blipFill>
        </p:spPr>
      </p:sp>
      <p:sp>
        <p:nvSpPr>
          <p:cNvPr id="5" name="Freeform 5"/>
          <p:cNvSpPr/>
          <p:nvPr/>
        </p:nvSpPr>
        <p:spPr>
          <a:xfrm>
            <a:off x="11076903" y="5993272"/>
            <a:ext cx="6182397" cy="4038471"/>
          </a:xfrm>
          <a:custGeom>
            <a:avLst/>
            <a:gdLst/>
            <a:ahLst/>
            <a:cxnLst/>
            <a:rect l="l" t="t" r="r" b="b"/>
            <a:pathLst>
              <a:path w="6182397" h="4038471">
                <a:moveTo>
                  <a:pt x="0" y="0"/>
                </a:moveTo>
                <a:lnTo>
                  <a:pt x="6182397" y="0"/>
                </a:lnTo>
                <a:lnTo>
                  <a:pt x="6182397" y="4038471"/>
                </a:lnTo>
                <a:lnTo>
                  <a:pt x="0" y="4038471"/>
                </a:lnTo>
                <a:lnTo>
                  <a:pt x="0" y="0"/>
                </a:lnTo>
                <a:close/>
              </a:path>
            </a:pathLst>
          </a:custGeom>
          <a:blipFill>
            <a:blip r:embed="rId5"/>
            <a:stretch>
              <a:fillRect t="-805" b="-805"/>
            </a:stretch>
          </a:blipFill>
        </p:spPr>
      </p:sp>
      <p:sp>
        <p:nvSpPr>
          <p:cNvPr id="6" name="Freeform 6"/>
          <p:cNvSpPr/>
          <p:nvPr/>
        </p:nvSpPr>
        <p:spPr>
          <a:xfrm flipH="1">
            <a:off x="12980478" y="406777"/>
            <a:ext cx="9877785" cy="6719035"/>
          </a:xfrm>
          <a:custGeom>
            <a:avLst/>
            <a:gdLst/>
            <a:ahLst/>
            <a:cxnLst/>
            <a:rect l="l" t="t" r="r" b="b"/>
            <a:pathLst>
              <a:path w="9877785" h="6719035">
                <a:moveTo>
                  <a:pt x="9877784" y="0"/>
                </a:moveTo>
                <a:lnTo>
                  <a:pt x="0" y="0"/>
                </a:lnTo>
                <a:lnTo>
                  <a:pt x="0" y="6719035"/>
                </a:lnTo>
                <a:lnTo>
                  <a:pt x="9877784" y="6719035"/>
                </a:lnTo>
                <a:lnTo>
                  <a:pt x="9877784" y="0"/>
                </a:lnTo>
                <a:close/>
              </a:path>
            </a:pathLst>
          </a:custGeom>
          <a:blipFill>
            <a:blip>
              <a:extLst>
                <a:ext uri="{96DAC541-7B7A-43D3-8B79-37D633B846F1}">
                  <asvg:svgBlip xmlns:asvg="http://schemas.microsoft.com/office/drawing/2016/SVG/main" r:embed="rId6"/>
                </a:ext>
              </a:extLst>
            </a:blip>
            <a:stretch>
              <a:fillRect/>
            </a:stretch>
          </a:blipFill>
        </p:spPr>
      </p:sp>
      <p:sp>
        <p:nvSpPr>
          <p:cNvPr id="7" name="TextBox 7"/>
          <p:cNvSpPr txBox="1"/>
          <p:nvPr/>
        </p:nvSpPr>
        <p:spPr>
          <a:xfrm>
            <a:off x="5917370" y="686118"/>
            <a:ext cx="6831687" cy="599439"/>
          </a:xfrm>
          <a:prstGeom prst="rect">
            <a:avLst/>
          </a:prstGeom>
        </p:spPr>
        <p:txBody>
          <a:bodyPr lIns="0" tIns="0" rIns="0" bIns="0" rtlCol="0" anchor="t">
            <a:spAutoFit/>
          </a:bodyPr>
          <a:lstStyle/>
          <a:p>
            <a:pPr algn="ctr">
              <a:lnSpc>
                <a:spcPts val="4760"/>
              </a:lnSpc>
              <a:spcBef>
                <a:spcPct val="0"/>
              </a:spcBef>
            </a:pPr>
            <a:r>
              <a:rPr lang="en-US" sz="3400" b="1">
                <a:solidFill>
                  <a:srgbClr val="000000"/>
                </a:solidFill>
                <a:latin typeface="Raleway Bold"/>
                <a:ea typeface="Raleway Bold"/>
                <a:cs typeface="Raleway Bold"/>
                <a:sym typeface="Raleway Bold"/>
              </a:rPr>
              <a:t>Univariate and Bivariate Analysis </a:t>
            </a:r>
          </a:p>
        </p:txBody>
      </p:sp>
      <p:sp>
        <p:nvSpPr>
          <p:cNvPr id="8" name="TextBox 8"/>
          <p:cNvSpPr txBox="1"/>
          <p:nvPr/>
        </p:nvSpPr>
        <p:spPr>
          <a:xfrm>
            <a:off x="1028700" y="3236168"/>
            <a:ext cx="7716370" cy="5692943"/>
          </a:xfrm>
          <a:prstGeom prst="rect">
            <a:avLst/>
          </a:prstGeom>
        </p:spPr>
        <p:txBody>
          <a:bodyPr lIns="0" tIns="0" rIns="0" bIns="0" rtlCol="0" anchor="t">
            <a:spAutoFit/>
          </a:bodyPr>
          <a:lstStyle/>
          <a:p>
            <a:pPr marL="502935" lvl="1" indent="-251467" algn="l">
              <a:lnSpc>
                <a:spcPts val="3261"/>
              </a:lnSpc>
              <a:buFont typeface="Arial"/>
              <a:buChar char="•"/>
            </a:pPr>
            <a:r>
              <a:rPr lang="en-US" sz="2329" b="1">
                <a:solidFill>
                  <a:srgbClr val="000000"/>
                </a:solidFill>
                <a:latin typeface="Raleway Bold"/>
                <a:ea typeface="Raleway Bold"/>
                <a:cs typeface="Raleway Bold"/>
                <a:sym typeface="Raleway Bold"/>
              </a:rPr>
              <a:t>Univariate Analysis </a:t>
            </a:r>
            <a:r>
              <a:rPr lang="en-US" sz="2329">
                <a:solidFill>
                  <a:srgbClr val="000000"/>
                </a:solidFill>
                <a:latin typeface="Raleway"/>
                <a:ea typeface="Raleway"/>
                <a:cs typeface="Raleway"/>
                <a:sym typeface="Raleway"/>
              </a:rPr>
              <a:t>– Examined individual columns like airlines, months, departure hours, and delay types to understand basic distributions and patterns.</a:t>
            </a:r>
          </a:p>
          <a:p>
            <a:pPr algn="l">
              <a:lnSpc>
                <a:spcPts val="3261"/>
              </a:lnSpc>
            </a:pPr>
            <a:endParaRPr lang="en-US" sz="2329">
              <a:solidFill>
                <a:srgbClr val="000000"/>
              </a:solidFill>
              <a:latin typeface="Raleway"/>
              <a:ea typeface="Raleway"/>
              <a:cs typeface="Raleway"/>
              <a:sym typeface="Raleway"/>
            </a:endParaRPr>
          </a:p>
          <a:p>
            <a:pPr marL="502935" lvl="1" indent="-251467" algn="l">
              <a:lnSpc>
                <a:spcPts val="3261"/>
              </a:lnSpc>
              <a:buFont typeface="Arial"/>
              <a:buChar char="•"/>
            </a:pPr>
            <a:r>
              <a:rPr lang="en-US" sz="2329" b="1">
                <a:solidFill>
                  <a:srgbClr val="000000"/>
                </a:solidFill>
                <a:latin typeface="Raleway Bold"/>
                <a:ea typeface="Raleway Bold"/>
                <a:cs typeface="Raleway Bold"/>
                <a:sym typeface="Raleway Bold"/>
              </a:rPr>
              <a:t>Bivariate Analysis</a:t>
            </a:r>
            <a:r>
              <a:rPr lang="en-US" sz="2329">
                <a:solidFill>
                  <a:srgbClr val="000000"/>
                </a:solidFill>
                <a:latin typeface="Raleway"/>
                <a:ea typeface="Raleway"/>
                <a:cs typeface="Raleway"/>
                <a:sym typeface="Raleway"/>
              </a:rPr>
              <a:t> – Compared two variables (e.g., Airline vs Delay, Airport vs Cancellations, Time vs Delay) to identify relationships and trends.</a:t>
            </a:r>
          </a:p>
          <a:p>
            <a:pPr algn="l">
              <a:lnSpc>
                <a:spcPts val="3261"/>
              </a:lnSpc>
            </a:pPr>
            <a:endParaRPr lang="en-US" sz="2329">
              <a:solidFill>
                <a:srgbClr val="000000"/>
              </a:solidFill>
              <a:latin typeface="Raleway"/>
              <a:ea typeface="Raleway"/>
              <a:cs typeface="Raleway"/>
              <a:sym typeface="Raleway"/>
            </a:endParaRPr>
          </a:p>
          <a:p>
            <a:pPr marL="502935" lvl="1" indent="-251467" algn="l">
              <a:lnSpc>
                <a:spcPts val="3261"/>
              </a:lnSpc>
              <a:buFont typeface="Arial"/>
              <a:buChar char="•"/>
            </a:pPr>
            <a:r>
              <a:rPr lang="en-US" sz="2329">
                <a:solidFill>
                  <a:srgbClr val="000000"/>
                </a:solidFill>
                <a:latin typeface="Raleway"/>
                <a:ea typeface="Raleway"/>
                <a:cs typeface="Raleway"/>
                <a:sym typeface="Raleway"/>
              </a:rPr>
              <a:t> </a:t>
            </a:r>
            <a:r>
              <a:rPr lang="en-US" sz="2329" b="1">
                <a:solidFill>
                  <a:srgbClr val="000000"/>
                </a:solidFill>
                <a:latin typeface="Raleway Bold"/>
                <a:ea typeface="Raleway Bold"/>
                <a:cs typeface="Raleway Bold"/>
                <a:sym typeface="Raleway Bold"/>
              </a:rPr>
              <a:t>Visualizations Used</a:t>
            </a:r>
            <a:r>
              <a:rPr lang="en-US" sz="2329">
                <a:solidFill>
                  <a:srgbClr val="000000"/>
                </a:solidFill>
                <a:latin typeface="Raleway"/>
                <a:ea typeface="Raleway"/>
                <a:cs typeface="Raleway"/>
                <a:sym typeface="Raleway"/>
              </a:rPr>
              <a:t> – Bar charts, line charts, histograms, and boxplots to clearly show patterns.</a:t>
            </a:r>
          </a:p>
          <a:p>
            <a:pPr algn="l">
              <a:lnSpc>
                <a:spcPts val="3261"/>
              </a:lnSpc>
            </a:pPr>
            <a:endParaRPr lang="en-US" sz="2329">
              <a:solidFill>
                <a:srgbClr val="000000"/>
              </a:solidFill>
              <a:latin typeface="Raleway"/>
              <a:ea typeface="Raleway"/>
              <a:cs typeface="Raleway"/>
              <a:sym typeface="Raleway"/>
            </a:endParaRPr>
          </a:p>
          <a:p>
            <a:pPr marL="502935" lvl="1" indent="-251467" algn="l">
              <a:lnSpc>
                <a:spcPts val="3261"/>
              </a:lnSpc>
              <a:buFont typeface="Arial"/>
              <a:buChar char="•"/>
            </a:pPr>
            <a:r>
              <a:rPr lang="en-US" sz="2329">
                <a:solidFill>
                  <a:srgbClr val="000000"/>
                </a:solidFill>
                <a:latin typeface="Raleway"/>
                <a:ea typeface="Raleway"/>
                <a:cs typeface="Raleway"/>
                <a:sym typeface="Raleway"/>
              </a:rPr>
              <a:t> </a:t>
            </a:r>
            <a:r>
              <a:rPr lang="en-US" sz="2329" b="1">
                <a:solidFill>
                  <a:srgbClr val="000000"/>
                </a:solidFill>
                <a:latin typeface="Raleway Bold"/>
                <a:ea typeface="Raleway Bold"/>
                <a:cs typeface="Raleway Bold"/>
                <a:sym typeface="Raleway Bold"/>
              </a:rPr>
              <a:t>Outcome</a:t>
            </a:r>
            <a:r>
              <a:rPr lang="en-US" sz="2329">
                <a:solidFill>
                  <a:srgbClr val="000000"/>
                </a:solidFill>
                <a:latin typeface="Raleway"/>
                <a:ea typeface="Raleway"/>
                <a:cs typeface="Raleway"/>
                <a:sym typeface="Raleway"/>
              </a:rPr>
              <a:t> – Identified peak delay times, top delay-prone  airlines, busy routes, and seasonal flight patterns.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CFE8FF"/>
        </a:solidFill>
        <a:effectLst/>
      </p:bgPr>
    </p:bg>
    <p:spTree>
      <p:nvGrpSpPr>
        <p:cNvPr id="1" name=""/>
        <p:cNvGrpSpPr/>
        <p:nvPr/>
      </p:nvGrpSpPr>
      <p:grpSpPr>
        <a:xfrm>
          <a:off x="0" y="0"/>
          <a:ext cx="0" cy="0"/>
          <a:chOff x="0" y="0"/>
          <a:chExt cx="0" cy="0"/>
        </a:xfrm>
      </p:grpSpPr>
      <p:sp>
        <p:nvSpPr>
          <p:cNvPr id="2" name="Freeform 2"/>
          <p:cNvSpPr/>
          <p:nvPr/>
        </p:nvSpPr>
        <p:spPr>
          <a:xfrm>
            <a:off x="6635665" y="729862"/>
            <a:ext cx="5395096" cy="1111390"/>
          </a:xfrm>
          <a:custGeom>
            <a:avLst/>
            <a:gdLst/>
            <a:ahLst/>
            <a:cxnLst/>
            <a:rect l="l" t="t" r="r" b="b"/>
            <a:pathLst>
              <a:path w="5395096" h="1111390">
                <a:moveTo>
                  <a:pt x="0" y="0"/>
                </a:moveTo>
                <a:lnTo>
                  <a:pt x="5395096" y="0"/>
                </a:lnTo>
                <a:lnTo>
                  <a:pt x="5395096" y="1111390"/>
                </a:lnTo>
                <a:lnTo>
                  <a:pt x="0" y="111139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 name="Group 3"/>
          <p:cNvGrpSpPr/>
          <p:nvPr/>
        </p:nvGrpSpPr>
        <p:grpSpPr>
          <a:xfrm>
            <a:off x="0" y="0"/>
            <a:ext cx="3086100" cy="10287000"/>
            <a:chOff x="0" y="0"/>
            <a:chExt cx="812800" cy="2709333"/>
          </a:xfrm>
        </p:grpSpPr>
        <p:sp>
          <p:nvSpPr>
            <p:cNvPr id="4" name="Freeform 4"/>
            <p:cNvSpPr/>
            <p:nvPr/>
          </p:nvSpPr>
          <p:spPr>
            <a:xfrm>
              <a:off x="0" y="0"/>
              <a:ext cx="812800" cy="2709333"/>
            </a:xfrm>
            <a:custGeom>
              <a:avLst/>
              <a:gdLst/>
              <a:ahLst/>
              <a:cxnLst/>
              <a:rect l="l" t="t" r="r" b="b"/>
              <a:pathLst>
                <a:path w="812800" h="2709333">
                  <a:moveTo>
                    <a:pt x="0" y="0"/>
                  </a:moveTo>
                  <a:lnTo>
                    <a:pt x="812800" y="0"/>
                  </a:lnTo>
                  <a:lnTo>
                    <a:pt x="812800" y="2709333"/>
                  </a:lnTo>
                  <a:lnTo>
                    <a:pt x="0" y="2709333"/>
                  </a:lnTo>
                  <a:close/>
                </a:path>
              </a:pathLst>
            </a:custGeom>
            <a:solidFill>
              <a:srgbClr val="FFFFFF"/>
            </a:solidFill>
          </p:spPr>
        </p:sp>
        <p:sp>
          <p:nvSpPr>
            <p:cNvPr id="5" name="TextBox 5"/>
            <p:cNvSpPr txBox="1"/>
            <p:nvPr/>
          </p:nvSpPr>
          <p:spPr>
            <a:xfrm>
              <a:off x="0" y="-57150"/>
              <a:ext cx="812800" cy="2766483"/>
            </a:xfrm>
            <a:prstGeom prst="rect">
              <a:avLst/>
            </a:prstGeom>
          </p:spPr>
          <p:txBody>
            <a:bodyPr lIns="50800" tIns="50800" rIns="50800" bIns="50800" rtlCol="0" anchor="ctr"/>
            <a:lstStyle/>
            <a:p>
              <a:pPr algn="ctr">
                <a:lnSpc>
                  <a:spcPts val="3220"/>
                </a:lnSpc>
              </a:pPr>
              <a:endParaRPr/>
            </a:p>
          </p:txBody>
        </p:sp>
      </p:grpSp>
      <p:sp>
        <p:nvSpPr>
          <p:cNvPr id="6" name="Freeform 6"/>
          <p:cNvSpPr/>
          <p:nvPr/>
        </p:nvSpPr>
        <p:spPr>
          <a:xfrm>
            <a:off x="-777012" y="1028700"/>
            <a:ext cx="6488575" cy="4413638"/>
          </a:xfrm>
          <a:custGeom>
            <a:avLst/>
            <a:gdLst/>
            <a:ahLst/>
            <a:cxnLst/>
            <a:rect l="l" t="t" r="r" b="b"/>
            <a:pathLst>
              <a:path w="6488575" h="4413638">
                <a:moveTo>
                  <a:pt x="0" y="0"/>
                </a:moveTo>
                <a:lnTo>
                  <a:pt x="6488575" y="0"/>
                </a:lnTo>
                <a:lnTo>
                  <a:pt x="6488575" y="4413638"/>
                </a:lnTo>
                <a:lnTo>
                  <a:pt x="0" y="441363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Freeform 7"/>
          <p:cNvSpPr/>
          <p:nvPr/>
        </p:nvSpPr>
        <p:spPr>
          <a:xfrm>
            <a:off x="4208198" y="2334068"/>
            <a:ext cx="5897105" cy="3914204"/>
          </a:xfrm>
          <a:custGeom>
            <a:avLst/>
            <a:gdLst/>
            <a:ahLst/>
            <a:cxnLst/>
            <a:rect l="l" t="t" r="r" b="b"/>
            <a:pathLst>
              <a:path w="5897105" h="3914204">
                <a:moveTo>
                  <a:pt x="0" y="0"/>
                </a:moveTo>
                <a:lnTo>
                  <a:pt x="5897105" y="0"/>
                </a:lnTo>
                <a:lnTo>
                  <a:pt x="5897105" y="3914204"/>
                </a:lnTo>
                <a:lnTo>
                  <a:pt x="0" y="3914204"/>
                </a:lnTo>
                <a:lnTo>
                  <a:pt x="0" y="0"/>
                </a:lnTo>
                <a:close/>
              </a:path>
            </a:pathLst>
          </a:custGeom>
          <a:blipFill>
            <a:blip r:embed="rId4"/>
            <a:stretch>
              <a:fillRect/>
            </a:stretch>
          </a:blipFill>
        </p:spPr>
      </p:sp>
      <p:sp>
        <p:nvSpPr>
          <p:cNvPr id="8" name="Freeform 8"/>
          <p:cNvSpPr/>
          <p:nvPr/>
        </p:nvSpPr>
        <p:spPr>
          <a:xfrm>
            <a:off x="554723" y="6075063"/>
            <a:ext cx="6311888" cy="3988148"/>
          </a:xfrm>
          <a:custGeom>
            <a:avLst/>
            <a:gdLst/>
            <a:ahLst/>
            <a:cxnLst/>
            <a:rect l="l" t="t" r="r" b="b"/>
            <a:pathLst>
              <a:path w="6311888" h="3988148">
                <a:moveTo>
                  <a:pt x="0" y="0"/>
                </a:moveTo>
                <a:lnTo>
                  <a:pt x="6311888" y="0"/>
                </a:lnTo>
                <a:lnTo>
                  <a:pt x="6311888" y="3988148"/>
                </a:lnTo>
                <a:lnTo>
                  <a:pt x="0" y="3988148"/>
                </a:lnTo>
                <a:lnTo>
                  <a:pt x="0" y="0"/>
                </a:lnTo>
                <a:close/>
              </a:path>
            </a:pathLst>
          </a:custGeom>
          <a:blipFill>
            <a:blip r:embed="rId5"/>
            <a:stretch>
              <a:fillRect/>
            </a:stretch>
          </a:blipFill>
        </p:spPr>
      </p:sp>
      <p:sp>
        <p:nvSpPr>
          <p:cNvPr id="9" name="TextBox 9"/>
          <p:cNvSpPr txBox="1"/>
          <p:nvPr/>
        </p:nvSpPr>
        <p:spPr>
          <a:xfrm>
            <a:off x="6088926" y="841101"/>
            <a:ext cx="6488574" cy="565924"/>
          </a:xfrm>
          <a:prstGeom prst="rect">
            <a:avLst/>
          </a:prstGeom>
        </p:spPr>
        <p:txBody>
          <a:bodyPr wrap="square" lIns="0" tIns="0" rIns="0" bIns="0" rtlCol="0" anchor="t">
            <a:spAutoFit/>
          </a:bodyPr>
          <a:lstStyle/>
          <a:p>
            <a:pPr algn="ctr">
              <a:lnSpc>
                <a:spcPts val="4760"/>
              </a:lnSpc>
              <a:spcBef>
                <a:spcPct val="0"/>
              </a:spcBef>
            </a:pPr>
            <a:r>
              <a:rPr lang="en-US" sz="3400" b="1" dirty="0">
                <a:solidFill>
                  <a:srgbClr val="000000"/>
                </a:solidFill>
                <a:latin typeface="Raleway Bold"/>
                <a:ea typeface="Raleway Bold"/>
                <a:cs typeface="Raleway Bold"/>
                <a:sym typeface="Raleway Bold"/>
              </a:rPr>
              <a:t>Delay Cause Analysis</a:t>
            </a:r>
          </a:p>
        </p:txBody>
      </p:sp>
      <p:sp>
        <p:nvSpPr>
          <p:cNvPr id="10" name="TextBox 10"/>
          <p:cNvSpPr txBox="1"/>
          <p:nvPr/>
        </p:nvSpPr>
        <p:spPr>
          <a:xfrm>
            <a:off x="10619736" y="3235519"/>
            <a:ext cx="6920131" cy="5199380"/>
          </a:xfrm>
          <a:prstGeom prst="rect">
            <a:avLst/>
          </a:prstGeom>
        </p:spPr>
        <p:txBody>
          <a:bodyPr lIns="0" tIns="0" rIns="0" bIns="0" rtlCol="0" anchor="t">
            <a:spAutoFit/>
          </a:bodyPr>
          <a:lstStyle/>
          <a:p>
            <a:pPr algn="l">
              <a:lnSpc>
                <a:spcPts val="3220"/>
              </a:lnSpc>
              <a:spcBef>
                <a:spcPct val="0"/>
              </a:spcBef>
            </a:pPr>
            <a:r>
              <a:rPr lang="en-US" sz="2300" dirty="0">
                <a:solidFill>
                  <a:srgbClr val="000000"/>
                </a:solidFill>
                <a:latin typeface="Raleway"/>
                <a:ea typeface="Raleway"/>
                <a:cs typeface="Raleway"/>
                <a:sym typeface="Raleway"/>
              </a:rPr>
              <a:t>Studying the reasons and patterns behind flight delays to understand which factors impact on-time performance.</a:t>
            </a:r>
          </a:p>
          <a:p>
            <a:pPr algn="l">
              <a:lnSpc>
                <a:spcPts val="3220"/>
              </a:lnSpc>
              <a:spcBef>
                <a:spcPct val="0"/>
              </a:spcBef>
            </a:pPr>
            <a:endParaRPr lang="en-US" sz="2300" dirty="0">
              <a:solidFill>
                <a:srgbClr val="000000"/>
              </a:solidFill>
              <a:latin typeface="Raleway"/>
              <a:ea typeface="Raleway"/>
              <a:cs typeface="Raleway"/>
              <a:sym typeface="Raleway"/>
            </a:endParaRPr>
          </a:p>
          <a:p>
            <a:pPr algn="l">
              <a:lnSpc>
                <a:spcPts val="3220"/>
              </a:lnSpc>
              <a:spcBef>
                <a:spcPct val="0"/>
              </a:spcBef>
            </a:pPr>
            <a:r>
              <a:rPr lang="en-US" sz="2300" dirty="0">
                <a:solidFill>
                  <a:srgbClr val="000000"/>
                </a:solidFill>
                <a:latin typeface="Raleway"/>
                <a:ea typeface="Raleway"/>
                <a:cs typeface="Raleway"/>
                <a:sym typeface="Raleway"/>
              </a:rPr>
              <a:t>What’s Done –</a:t>
            </a:r>
          </a:p>
          <a:p>
            <a:pPr marL="496571" lvl="1" indent="-248285" algn="l">
              <a:lnSpc>
                <a:spcPts val="3220"/>
              </a:lnSpc>
              <a:buFont typeface="Arial"/>
              <a:buChar char="•"/>
            </a:pPr>
            <a:r>
              <a:rPr lang="en-US" sz="2300" dirty="0">
                <a:solidFill>
                  <a:srgbClr val="000000"/>
                </a:solidFill>
                <a:latin typeface="Raleway"/>
                <a:ea typeface="Raleway"/>
                <a:cs typeface="Raleway"/>
                <a:sym typeface="Raleway"/>
              </a:rPr>
              <a:t>Analyzed major </a:t>
            </a:r>
            <a:r>
              <a:rPr lang="en-US" sz="2300" b="1" dirty="0">
                <a:solidFill>
                  <a:srgbClr val="000000"/>
                </a:solidFill>
                <a:latin typeface="Raleway Bold"/>
                <a:ea typeface="Raleway Bold"/>
                <a:cs typeface="Raleway Bold"/>
                <a:sym typeface="Raleway Bold"/>
              </a:rPr>
              <a:t>delay categories</a:t>
            </a:r>
            <a:r>
              <a:rPr lang="en-US" sz="2300" dirty="0">
                <a:solidFill>
                  <a:srgbClr val="000000"/>
                </a:solidFill>
                <a:latin typeface="Raleway"/>
                <a:ea typeface="Raleway"/>
                <a:cs typeface="Raleway"/>
                <a:sym typeface="Raleway"/>
              </a:rPr>
              <a:t>: Carrier, Weather, NAS, and Late Aircraft.</a:t>
            </a:r>
          </a:p>
          <a:p>
            <a:pPr marL="496571" lvl="1" indent="-248285" algn="l">
              <a:lnSpc>
                <a:spcPts val="3220"/>
              </a:lnSpc>
              <a:buFont typeface="Arial"/>
              <a:buChar char="•"/>
            </a:pPr>
            <a:r>
              <a:rPr lang="en-US" sz="2300" dirty="0">
                <a:solidFill>
                  <a:srgbClr val="000000"/>
                </a:solidFill>
                <a:latin typeface="Raleway"/>
                <a:ea typeface="Raleway"/>
                <a:cs typeface="Raleway"/>
                <a:sym typeface="Raleway"/>
              </a:rPr>
              <a:t>Compared delay durations across airlines, airports, and </a:t>
            </a:r>
            <a:r>
              <a:rPr lang="en-US" sz="2300" b="1" dirty="0">
                <a:solidFill>
                  <a:srgbClr val="000000"/>
                </a:solidFill>
                <a:latin typeface="Raleway Bold"/>
                <a:ea typeface="Raleway Bold"/>
                <a:cs typeface="Raleway Bold"/>
                <a:sym typeface="Raleway Bold"/>
              </a:rPr>
              <a:t>time of day</a:t>
            </a:r>
            <a:r>
              <a:rPr lang="en-US" sz="2300" dirty="0">
                <a:solidFill>
                  <a:srgbClr val="000000"/>
                </a:solidFill>
                <a:latin typeface="Raleway"/>
                <a:ea typeface="Raleway"/>
                <a:cs typeface="Raleway"/>
                <a:sym typeface="Raleway"/>
              </a:rPr>
              <a:t>.</a:t>
            </a:r>
          </a:p>
          <a:p>
            <a:pPr marL="496571" lvl="1" indent="-248285" algn="l">
              <a:lnSpc>
                <a:spcPts val="3220"/>
              </a:lnSpc>
              <a:buFont typeface="Arial"/>
              <a:buChar char="•"/>
            </a:pPr>
            <a:r>
              <a:rPr lang="en-US" sz="2300" dirty="0">
                <a:solidFill>
                  <a:srgbClr val="000000"/>
                </a:solidFill>
                <a:latin typeface="Raleway"/>
                <a:ea typeface="Raleway"/>
                <a:cs typeface="Raleway"/>
                <a:sym typeface="Raleway"/>
              </a:rPr>
              <a:t>Identified which </a:t>
            </a:r>
            <a:r>
              <a:rPr lang="en-US" sz="2300" b="1" dirty="0">
                <a:solidFill>
                  <a:srgbClr val="000000"/>
                </a:solidFill>
                <a:latin typeface="Raleway Bold"/>
                <a:ea typeface="Raleway Bold"/>
                <a:cs typeface="Raleway Bold"/>
                <a:sym typeface="Raleway Bold"/>
              </a:rPr>
              <a:t>airlines </a:t>
            </a:r>
            <a:r>
              <a:rPr lang="en-US" sz="2300" dirty="0">
                <a:solidFill>
                  <a:srgbClr val="000000"/>
                </a:solidFill>
                <a:latin typeface="Raleway"/>
                <a:ea typeface="Raleway"/>
                <a:cs typeface="Raleway"/>
                <a:sym typeface="Raleway"/>
              </a:rPr>
              <a:t>and </a:t>
            </a:r>
            <a:r>
              <a:rPr lang="en-US" sz="2300" b="1" dirty="0">
                <a:solidFill>
                  <a:srgbClr val="000000"/>
                </a:solidFill>
                <a:latin typeface="Raleway Bold"/>
                <a:ea typeface="Raleway Bold"/>
                <a:cs typeface="Raleway Bold"/>
                <a:sym typeface="Raleway Bold"/>
              </a:rPr>
              <a:t>routes</a:t>
            </a:r>
            <a:r>
              <a:rPr lang="en-US" sz="2300" dirty="0">
                <a:solidFill>
                  <a:srgbClr val="000000"/>
                </a:solidFill>
                <a:latin typeface="Raleway"/>
                <a:ea typeface="Raleway"/>
                <a:cs typeface="Raleway"/>
                <a:sym typeface="Raleway"/>
              </a:rPr>
              <a:t> experience the </a:t>
            </a:r>
            <a:r>
              <a:rPr lang="en-US" sz="2300" b="1" dirty="0">
                <a:solidFill>
                  <a:srgbClr val="000000"/>
                </a:solidFill>
                <a:latin typeface="Raleway Bold"/>
                <a:ea typeface="Raleway Bold"/>
                <a:cs typeface="Raleway Bold"/>
                <a:sym typeface="Raleway Bold"/>
              </a:rPr>
              <a:t>highest delays</a:t>
            </a:r>
            <a:r>
              <a:rPr lang="en-US" sz="2300" dirty="0">
                <a:solidFill>
                  <a:srgbClr val="000000"/>
                </a:solidFill>
                <a:latin typeface="Raleway"/>
                <a:ea typeface="Raleway"/>
                <a:cs typeface="Raleway"/>
                <a:sym typeface="Raleway"/>
              </a:rPr>
              <a:t>.</a:t>
            </a:r>
          </a:p>
          <a:p>
            <a:pPr marL="496571" lvl="1" indent="-248285" algn="l">
              <a:lnSpc>
                <a:spcPts val="3220"/>
              </a:lnSpc>
              <a:buFont typeface="Arial"/>
              <a:buChar char="•"/>
            </a:pPr>
            <a:r>
              <a:rPr lang="en-US" sz="2300" dirty="0">
                <a:solidFill>
                  <a:srgbClr val="000000"/>
                </a:solidFill>
                <a:latin typeface="Raleway"/>
                <a:ea typeface="Raleway"/>
                <a:cs typeface="Raleway"/>
                <a:sym typeface="Raleway"/>
              </a:rPr>
              <a:t> Used visualizations to highlight peak delay hours and major delay contributors.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313822" y="7904481"/>
            <a:ext cx="18915645" cy="2382519"/>
            <a:chOff x="0" y="0"/>
            <a:chExt cx="4981898" cy="627495"/>
          </a:xfrm>
        </p:grpSpPr>
        <p:sp>
          <p:nvSpPr>
            <p:cNvPr id="3" name="Freeform 3"/>
            <p:cNvSpPr/>
            <p:nvPr/>
          </p:nvSpPr>
          <p:spPr>
            <a:xfrm>
              <a:off x="0" y="0"/>
              <a:ext cx="4981898" cy="627495"/>
            </a:xfrm>
            <a:custGeom>
              <a:avLst/>
              <a:gdLst/>
              <a:ahLst/>
              <a:cxnLst/>
              <a:rect l="l" t="t" r="r" b="b"/>
              <a:pathLst>
                <a:path w="4981898" h="627495">
                  <a:moveTo>
                    <a:pt x="0" y="0"/>
                  </a:moveTo>
                  <a:lnTo>
                    <a:pt x="4981898" y="0"/>
                  </a:lnTo>
                  <a:lnTo>
                    <a:pt x="4981898" y="627495"/>
                  </a:lnTo>
                  <a:lnTo>
                    <a:pt x="0" y="627495"/>
                  </a:lnTo>
                  <a:close/>
                </a:path>
              </a:pathLst>
            </a:custGeom>
            <a:solidFill>
              <a:srgbClr val="CFE8FF"/>
            </a:solidFill>
          </p:spPr>
        </p:sp>
        <p:sp>
          <p:nvSpPr>
            <p:cNvPr id="4" name="TextBox 4"/>
            <p:cNvSpPr txBox="1"/>
            <p:nvPr/>
          </p:nvSpPr>
          <p:spPr>
            <a:xfrm>
              <a:off x="0" y="-57150"/>
              <a:ext cx="4981898" cy="684645"/>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6190395" y="458398"/>
            <a:ext cx="7274854" cy="1498620"/>
          </a:xfrm>
          <a:custGeom>
            <a:avLst/>
            <a:gdLst/>
            <a:ahLst/>
            <a:cxnLst/>
            <a:rect l="l" t="t" r="r" b="b"/>
            <a:pathLst>
              <a:path w="7274854" h="1498620">
                <a:moveTo>
                  <a:pt x="0" y="0"/>
                </a:moveTo>
                <a:lnTo>
                  <a:pt x="7274854" y="0"/>
                </a:lnTo>
                <a:lnTo>
                  <a:pt x="7274854" y="1498620"/>
                </a:lnTo>
                <a:lnTo>
                  <a:pt x="0" y="149862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a:off x="9827822" y="3173633"/>
            <a:ext cx="7583798" cy="5922108"/>
            <a:chOff x="0" y="0"/>
            <a:chExt cx="1997379" cy="1559732"/>
          </a:xfrm>
        </p:grpSpPr>
        <p:sp>
          <p:nvSpPr>
            <p:cNvPr id="7" name="Freeform 7"/>
            <p:cNvSpPr/>
            <p:nvPr/>
          </p:nvSpPr>
          <p:spPr>
            <a:xfrm>
              <a:off x="0" y="0"/>
              <a:ext cx="1997379" cy="1559732"/>
            </a:xfrm>
            <a:custGeom>
              <a:avLst/>
              <a:gdLst/>
              <a:ahLst/>
              <a:cxnLst/>
              <a:rect l="l" t="t" r="r" b="b"/>
              <a:pathLst>
                <a:path w="1997379" h="1559732">
                  <a:moveTo>
                    <a:pt x="52063" y="0"/>
                  </a:moveTo>
                  <a:lnTo>
                    <a:pt x="1945316" y="0"/>
                  </a:lnTo>
                  <a:cubicBezTo>
                    <a:pt x="1959124" y="0"/>
                    <a:pt x="1972366" y="5485"/>
                    <a:pt x="1982130" y="15249"/>
                  </a:cubicBezTo>
                  <a:cubicBezTo>
                    <a:pt x="1991894" y="25013"/>
                    <a:pt x="1997379" y="38255"/>
                    <a:pt x="1997379" y="52063"/>
                  </a:cubicBezTo>
                  <a:lnTo>
                    <a:pt x="1997379" y="1507669"/>
                  </a:lnTo>
                  <a:cubicBezTo>
                    <a:pt x="1997379" y="1521477"/>
                    <a:pt x="1991894" y="1534719"/>
                    <a:pt x="1982130" y="1544483"/>
                  </a:cubicBezTo>
                  <a:cubicBezTo>
                    <a:pt x="1972366" y="1554247"/>
                    <a:pt x="1959124" y="1559732"/>
                    <a:pt x="1945316" y="1559732"/>
                  </a:cubicBezTo>
                  <a:lnTo>
                    <a:pt x="52063" y="1559732"/>
                  </a:lnTo>
                  <a:cubicBezTo>
                    <a:pt x="38255" y="1559732"/>
                    <a:pt x="25013" y="1554247"/>
                    <a:pt x="15249" y="1544483"/>
                  </a:cubicBezTo>
                  <a:cubicBezTo>
                    <a:pt x="5485" y="1534719"/>
                    <a:pt x="0" y="1521477"/>
                    <a:pt x="0" y="1507669"/>
                  </a:cubicBezTo>
                  <a:lnTo>
                    <a:pt x="0" y="52063"/>
                  </a:lnTo>
                  <a:cubicBezTo>
                    <a:pt x="0" y="38255"/>
                    <a:pt x="5485" y="25013"/>
                    <a:pt x="15249" y="15249"/>
                  </a:cubicBezTo>
                  <a:cubicBezTo>
                    <a:pt x="25013" y="5485"/>
                    <a:pt x="38255" y="0"/>
                    <a:pt x="52063" y="0"/>
                  </a:cubicBezTo>
                  <a:close/>
                </a:path>
              </a:pathLst>
            </a:custGeom>
            <a:solidFill>
              <a:srgbClr val="FFFFFF"/>
            </a:solidFill>
            <a:ln w="28575" cap="rnd">
              <a:solidFill>
                <a:srgbClr val="000000"/>
              </a:solidFill>
              <a:prstDash val="solid"/>
              <a:round/>
            </a:ln>
          </p:spPr>
        </p:sp>
        <p:sp>
          <p:nvSpPr>
            <p:cNvPr id="8" name="TextBox 8"/>
            <p:cNvSpPr txBox="1"/>
            <p:nvPr/>
          </p:nvSpPr>
          <p:spPr>
            <a:xfrm>
              <a:off x="0" y="-57150"/>
              <a:ext cx="1997379" cy="1616882"/>
            </a:xfrm>
            <a:prstGeom prst="rect">
              <a:avLst/>
            </a:prstGeom>
          </p:spPr>
          <p:txBody>
            <a:bodyPr lIns="50800" tIns="50800" rIns="50800" bIns="50800" rtlCol="0" anchor="ctr"/>
            <a:lstStyle/>
            <a:p>
              <a:pPr algn="ctr">
                <a:lnSpc>
                  <a:spcPts val="2940"/>
                </a:lnSpc>
              </a:pPr>
              <a:endParaRPr/>
            </a:p>
          </p:txBody>
        </p:sp>
      </p:grpSp>
      <p:sp>
        <p:nvSpPr>
          <p:cNvPr id="9" name="Freeform 9"/>
          <p:cNvSpPr/>
          <p:nvPr/>
        </p:nvSpPr>
        <p:spPr>
          <a:xfrm flipH="1">
            <a:off x="13465249" y="739960"/>
            <a:ext cx="4857755" cy="935495"/>
          </a:xfrm>
          <a:custGeom>
            <a:avLst/>
            <a:gdLst/>
            <a:ahLst/>
            <a:cxnLst/>
            <a:rect l="l" t="t" r="r" b="b"/>
            <a:pathLst>
              <a:path w="4857755" h="935495">
                <a:moveTo>
                  <a:pt x="4857755" y="0"/>
                </a:moveTo>
                <a:lnTo>
                  <a:pt x="0" y="0"/>
                </a:lnTo>
                <a:lnTo>
                  <a:pt x="0" y="935495"/>
                </a:lnTo>
                <a:lnTo>
                  <a:pt x="4857755" y="935495"/>
                </a:lnTo>
                <a:lnTo>
                  <a:pt x="4857755" y="0"/>
                </a:lnTo>
                <a:close/>
              </a:path>
            </a:pathLst>
          </a:custGeom>
          <a:blipFill>
            <a:blip>
              <a:extLst>
                <a:ext uri="{96DAC541-7B7A-43D3-8B79-37D633B846F1}">
                  <asvg:svgBlip xmlns:asvg="http://schemas.microsoft.com/office/drawing/2016/SVG/main" r:embed="rId3"/>
                </a:ext>
              </a:extLst>
            </a:blip>
            <a:stretch>
              <a:fillRect/>
            </a:stretch>
          </a:blipFill>
        </p:spPr>
      </p:sp>
      <p:sp>
        <p:nvSpPr>
          <p:cNvPr id="10" name="Freeform 10"/>
          <p:cNvSpPr/>
          <p:nvPr/>
        </p:nvSpPr>
        <p:spPr>
          <a:xfrm>
            <a:off x="315478" y="2238006"/>
            <a:ext cx="6372572" cy="3536778"/>
          </a:xfrm>
          <a:custGeom>
            <a:avLst/>
            <a:gdLst/>
            <a:ahLst/>
            <a:cxnLst/>
            <a:rect l="l" t="t" r="r" b="b"/>
            <a:pathLst>
              <a:path w="6372572" h="3536778">
                <a:moveTo>
                  <a:pt x="0" y="0"/>
                </a:moveTo>
                <a:lnTo>
                  <a:pt x="6372572" y="0"/>
                </a:lnTo>
                <a:lnTo>
                  <a:pt x="6372572" y="3536777"/>
                </a:lnTo>
                <a:lnTo>
                  <a:pt x="0" y="3536777"/>
                </a:lnTo>
                <a:lnTo>
                  <a:pt x="0" y="0"/>
                </a:lnTo>
                <a:close/>
              </a:path>
            </a:pathLst>
          </a:custGeom>
          <a:blipFill>
            <a:blip r:embed="rId4"/>
            <a:stretch>
              <a:fillRect/>
            </a:stretch>
          </a:blipFill>
        </p:spPr>
      </p:sp>
      <p:sp>
        <p:nvSpPr>
          <p:cNvPr id="11" name="Freeform 11"/>
          <p:cNvSpPr/>
          <p:nvPr/>
        </p:nvSpPr>
        <p:spPr>
          <a:xfrm>
            <a:off x="1983016" y="5848951"/>
            <a:ext cx="7390671" cy="4111061"/>
          </a:xfrm>
          <a:custGeom>
            <a:avLst/>
            <a:gdLst/>
            <a:ahLst/>
            <a:cxnLst/>
            <a:rect l="l" t="t" r="r" b="b"/>
            <a:pathLst>
              <a:path w="7390671" h="4111061">
                <a:moveTo>
                  <a:pt x="0" y="0"/>
                </a:moveTo>
                <a:lnTo>
                  <a:pt x="7390671" y="0"/>
                </a:lnTo>
                <a:lnTo>
                  <a:pt x="7390671" y="4111061"/>
                </a:lnTo>
                <a:lnTo>
                  <a:pt x="0" y="4111061"/>
                </a:lnTo>
                <a:lnTo>
                  <a:pt x="0" y="0"/>
                </a:lnTo>
                <a:close/>
              </a:path>
            </a:pathLst>
          </a:custGeom>
          <a:blipFill>
            <a:blip r:embed="rId5"/>
            <a:stretch>
              <a:fillRect/>
            </a:stretch>
          </a:blipFill>
        </p:spPr>
      </p:sp>
      <p:sp>
        <p:nvSpPr>
          <p:cNvPr id="12" name="TextBox 12"/>
          <p:cNvSpPr txBox="1"/>
          <p:nvPr/>
        </p:nvSpPr>
        <p:spPr>
          <a:xfrm>
            <a:off x="6406561" y="729933"/>
            <a:ext cx="6842522" cy="530859"/>
          </a:xfrm>
          <a:prstGeom prst="rect">
            <a:avLst/>
          </a:prstGeom>
        </p:spPr>
        <p:txBody>
          <a:bodyPr lIns="0" tIns="0" rIns="0" bIns="0" rtlCol="0" anchor="t">
            <a:spAutoFit/>
          </a:bodyPr>
          <a:lstStyle/>
          <a:p>
            <a:pPr algn="ctr">
              <a:lnSpc>
                <a:spcPts val="4340"/>
              </a:lnSpc>
              <a:spcBef>
                <a:spcPct val="0"/>
              </a:spcBef>
            </a:pPr>
            <a:r>
              <a:rPr lang="en-US" sz="3100" b="1">
                <a:solidFill>
                  <a:srgbClr val="000000"/>
                </a:solidFill>
                <a:latin typeface="Raleway Bold"/>
                <a:ea typeface="Raleway Bold"/>
                <a:cs typeface="Raleway Bold"/>
                <a:sym typeface="Raleway Bold"/>
              </a:rPr>
              <a:t>Route and Airport-Level Exploration </a:t>
            </a:r>
          </a:p>
        </p:txBody>
      </p:sp>
      <p:sp>
        <p:nvSpPr>
          <p:cNvPr id="13" name="TextBox 13"/>
          <p:cNvSpPr txBox="1"/>
          <p:nvPr/>
        </p:nvSpPr>
        <p:spPr>
          <a:xfrm>
            <a:off x="10220332" y="3506422"/>
            <a:ext cx="6798778" cy="5199380"/>
          </a:xfrm>
          <a:prstGeom prst="rect">
            <a:avLst/>
          </a:prstGeom>
        </p:spPr>
        <p:txBody>
          <a:bodyPr lIns="0" tIns="0" rIns="0" bIns="0" rtlCol="0" anchor="t">
            <a:spAutoFit/>
          </a:bodyPr>
          <a:lstStyle/>
          <a:p>
            <a:pPr algn="l">
              <a:lnSpc>
                <a:spcPts val="3220"/>
              </a:lnSpc>
              <a:spcBef>
                <a:spcPct val="0"/>
              </a:spcBef>
            </a:pPr>
            <a:r>
              <a:rPr lang="en-US" sz="2300">
                <a:solidFill>
                  <a:srgbClr val="000000"/>
                </a:solidFill>
                <a:latin typeface="Raleway"/>
                <a:ea typeface="Raleway"/>
                <a:cs typeface="Raleway"/>
                <a:sym typeface="Raleway"/>
              </a:rPr>
              <a:t>Studying how different routes and airports perform in terms of traffic, delays, and cancellations.</a:t>
            </a:r>
          </a:p>
          <a:p>
            <a:pPr algn="l">
              <a:lnSpc>
                <a:spcPts val="3220"/>
              </a:lnSpc>
              <a:spcBef>
                <a:spcPct val="0"/>
              </a:spcBef>
            </a:pPr>
            <a:endParaRPr lang="en-US" sz="2300">
              <a:solidFill>
                <a:srgbClr val="000000"/>
              </a:solidFill>
              <a:latin typeface="Raleway"/>
              <a:ea typeface="Raleway"/>
              <a:cs typeface="Raleway"/>
              <a:sym typeface="Raleway"/>
            </a:endParaRPr>
          </a:p>
          <a:p>
            <a:pPr algn="l">
              <a:lnSpc>
                <a:spcPts val="3220"/>
              </a:lnSpc>
              <a:spcBef>
                <a:spcPct val="0"/>
              </a:spcBef>
            </a:pPr>
            <a:r>
              <a:rPr lang="en-US" sz="2300">
                <a:solidFill>
                  <a:srgbClr val="000000"/>
                </a:solidFill>
                <a:latin typeface="Raleway"/>
                <a:ea typeface="Raleway"/>
                <a:cs typeface="Raleway"/>
                <a:sym typeface="Raleway"/>
              </a:rPr>
              <a:t>What’s Done –</a:t>
            </a:r>
          </a:p>
          <a:p>
            <a:pPr marL="496571" lvl="1" indent="-248285" algn="l">
              <a:lnSpc>
                <a:spcPts val="3220"/>
              </a:lnSpc>
              <a:buFont typeface="Arial"/>
              <a:buChar char="•"/>
            </a:pPr>
            <a:r>
              <a:rPr lang="en-US" sz="2300">
                <a:solidFill>
                  <a:srgbClr val="000000"/>
                </a:solidFill>
                <a:latin typeface="Raleway"/>
                <a:ea typeface="Raleway"/>
                <a:cs typeface="Raleway"/>
                <a:sym typeface="Raleway"/>
              </a:rPr>
              <a:t>Identified top origin–destination routes based on flight volume.</a:t>
            </a:r>
          </a:p>
          <a:p>
            <a:pPr marL="496571" lvl="1" indent="-248285" algn="l">
              <a:lnSpc>
                <a:spcPts val="3220"/>
              </a:lnSpc>
              <a:buFont typeface="Arial"/>
              <a:buChar char="•"/>
            </a:pPr>
            <a:r>
              <a:rPr lang="en-US" sz="2300">
                <a:solidFill>
                  <a:srgbClr val="000000"/>
                </a:solidFill>
                <a:latin typeface="Raleway"/>
                <a:ea typeface="Raleway"/>
                <a:cs typeface="Raleway"/>
                <a:sym typeface="Raleway"/>
              </a:rPr>
              <a:t>Analyzed </a:t>
            </a:r>
            <a:r>
              <a:rPr lang="en-US" sz="2300" b="1">
                <a:solidFill>
                  <a:srgbClr val="000000"/>
                </a:solidFill>
                <a:latin typeface="Raleway Bold"/>
                <a:ea typeface="Raleway Bold"/>
                <a:cs typeface="Raleway Bold"/>
                <a:sym typeface="Raleway Bold"/>
              </a:rPr>
              <a:t>airport-wise delays</a:t>
            </a:r>
            <a:r>
              <a:rPr lang="en-US" sz="2300">
                <a:solidFill>
                  <a:srgbClr val="000000"/>
                </a:solidFill>
                <a:latin typeface="Raleway"/>
                <a:ea typeface="Raleway"/>
                <a:cs typeface="Raleway"/>
                <a:sym typeface="Raleway"/>
              </a:rPr>
              <a:t> to find the most </a:t>
            </a:r>
            <a:r>
              <a:rPr lang="en-US" sz="2300" b="1">
                <a:solidFill>
                  <a:srgbClr val="000000"/>
                </a:solidFill>
                <a:latin typeface="Raleway Bold"/>
                <a:ea typeface="Raleway Bold"/>
                <a:cs typeface="Raleway Bold"/>
                <a:sym typeface="Raleway Bold"/>
              </a:rPr>
              <a:t>delay-prone</a:t>
            </a:r>
            <a:r>
              <a:rPr lang="en-US" sz="2300">
                <a:solidFill>
                  <a:srgbClr val="000000"/>
                </a:solidFill>
                <a:latin typeface="Raleway"/>
                <a:ea typeface="Raleway"/>
                <a:cs typeface="Raleway"/>
                <a:sym typeface="Raleway"/>
              </a:rPr>
              <a:t> and </a:t>
            </a:r>
            <a:r>
              <a:rPr lang="en-US" sz="2300" b="1">
                <a:solidFill>
                  <a:srgbClr val="000000"/>
                </a:solidFill>
                <a:latin typeface="Raleway Bold"/>
                <a:ea typeface="Raleway Bold"/>
                <a:cs typeface="Raleway Bold"/>
                <a:sym typeface="Raleway Bold"/>
              </a:rPr>
              <a:t>busiest airports</a:t>
            </a:r>
            <a:r>
              <a:rPr lang="en-US" sz="2300">
                <a:solidFill>
                  <a:srgbClr val="000000"/>
                </a:solidFill>
                <a:latin typeface="Raleway"/>
                <a:ea typeface="Raleway"/>
                <a:cs typeface="Raleway"/>
                <a:sym typeface="Raleway"/>
              </a:rPr>
              <a:t>.</a:t>
            </a:r>
          </a:p>
          <a:p>
            <a:pPr marL="496571" lvl="1" indent="-248285" algn="l">
              <a:lnSpc>
                <a:spcPts val="3220"/>
              </a:lnSpc>
              <a:buFont typeface="Arial"/>
              <a:buChar char="•"/>
            </a:pPr>
            <a:r>
              <a:rPr lang="en-US" sz="2300">
                <a:solidFill>
                  <a:srgbClr val="000000"/>
                </a:solidFill>
                <a:latin typeface="Raleway"/>
                <a:ea typeface="Raleway"/>
                <a:cs typeface="Raleway"/>
                <a:sym typeface="Raleway"/>
              </a:rPr>
              <a:t>Created route-level visuals to compare average delays across major flight paths.</a:t>
            </a:r>
          </a:p>
          <a:p>
            <a:pPr marL="496571" lvl="1" indent="-248285" algn="l">
              <a:lnSpc>
                <a:spcPts val="3220"/>
              </a:lnSpc>
              <a:buFont typeface="Arial"/>
              <a:buChar char="•"/>
            </a:pPr>
            <a:r>
              <a:rPr lang="en-US" sz="2300">
                <a:solidFill>
                  <a:srgbClr val="000000"/>
                </a:solidFill>
                <a:latin typeface="Raleway"/>
                <a:ea typeface="Raleway"/>
                <a:cs typeface="Raleway"/>
                <a:sym typeface="Raleway"/>
              </a:rPr>
              <a:t>Checked how airport congestion and route distance impact </a:t>
            </a:r>
            <a:r>
              <a:rPr lang="en-US" sz="2300" b="1">
                <a:solidFill>
                  <a:srgbClr val="000000"/>
                </a:solidFill>
                <a:latin typeface="Raleway Bold"/>
                <a:ea typeface="Raleway Bold"/>
                <a:cs typeface="Raleway Bold"/>
                <a:sym typeface="Raleway Bold"/>
              </a:rPr>
              <a:t>flight performance</a:t>
            </a:r>
            <a:r>
              <a:rPr lang="en-US" sz="2300">
                <a:solidFill>
                  <a:srgbClr val="000000"/>
                </a:solidFill>
                <a:latin typeface="Raleway"/>
                <a:ea typeface="Raleway"/>
                <a:cs typeface="Raleway"/>
                <a:sym typeface="Raleway"/>
              </a:rPr>
              <a: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CFE8F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5153004" cy="10287000"/>
            <a:chOff x="0" y="0"/>
            <a:chExt cx="3990915" cy="2709333"/>
          </a:xfrm>
        </p:grpSpPr>
        <p:sp>
          <p:nvSpPr>
            <p:cNvPr id="3" name="Freeform 3"/>
            <p:cNvSpPr/>
            <p:nvPr/>
          </p:nvSpPr>
          <p:spPr>
            <a:xfrm>
              <a:off x="0" y="0"/>
              <a:ext cx="3990915" cy="2709333"/>
            </a:xfrm>
            <a:custGeom>
              <a:avLst/>
              <a:gdLst/>
              <a:ahLst/>
              <a:cxnLst/>
              <a:rect l="l" t="t" r="r" b="b"/>
              <a:pathLst>
                <a:path w="3990915" h="2709333">
                  <a:moveTo>
                    <a:pt x="0" y="0"/>
                  </a:moveTo>
                  <a:lnTo>
                    <a:pt x="3990915" y="0"/>
                  </a:lnTo>
                  <a:lnTo>
                    <a:pt x="3990915" y="2709333"/>
                  </a:lnTo>
                  <a:lnTo>
                    <a:pt x="0" y="2709333"/>
                  </a:lnTo>
                  <a:close/>
                </a:path>
              </a:pathLst>
            </a:custGeom>
            <a:solidFill>
              <a:srgbClr val="FFFFFF"/>
            </a:solidFill>
          </p:spPr>
        </p:sp>
        <p:sp>
          <p:nvSpPr>
            <p:cNvPr id="4" name="TextBox 4"/>
            <p:cNvSpPr txBox="1"/>
            <p:nvPr/>
          </p:nvSpPr>
          <p:spPr>
            <a:xfrm>
              <a:off x="0" y="-57150"/>
              <a:ext cx="3990915"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5711562" y="729862"/>
            <a:ext cx="7775837" cy="1046875"/>
          </a:xfrm>
          <a:custGeom>
            <a:avLst/>
            <a:gdLst/>
            <a:ahLst/>
            <a:cxnLst/>
            <a:rect l="l" t="t" r="r" b="b"/>
            <a:pathLst>
              <a:path w="7389478" h="1522232">
                <a:moveTo>
                  <a:pt x="0" y="0"/>
                </a:moveTo>
                <a:lnTo>
                  <a:pt x="7389478" y="0"/>
                </a:lnTo>
                <a:lnTo>
                  <a:pt x="7389478" y="1522233"/>
                </a:lnTo>
                <a:lnTo>
                  <a:pt x="0" y="1522233"/>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13003076" y="2252095"/>
            <a:ext cx="5125783" cy="3652838"/>
          </a:xfrm>
          <a:custGeom>
            <a:avLst/>
            <a:gdLst/>
            <a:ahLst/>
            <a:cxnLst/>
            <a:rect l="l" t="t" r="r" b="b"/>
            <a:pathLst>
              <a:path w="5125783" h="3652838">
                <a:moveTo>
                  <a:pt x="0" y="0"/>
                </a:moveTo>
                <a:lnTo>
                  <a:pt x="5125783" y="0"/>
                </a:lnTo>
                <a:lnTo>
                  <a:pt x="5125783" y="3652838"/>
                </a:lnTo>
                <a:lnTo>
                  <a:pt x="0" y="3652838"/>
                </a:lnTo>
                <a:lnTo>
                  <a:pt x="0" y="0"/>
                </a:lnTo>
                <a:close/>
              </a:path>
            </a:pathLst>
          </a:custGeom>
          <a:blipFill>
            <a:blip r:embed="rId3"/>
            <a:stretch>
              <a:fillRect t="-11574" b="-8050"/>
            </a:stretch>
          </a:blipFill>
        </p:spPr>
      </p:sp>
      <p:sp>
        <p:nvSpPr>
          <p:cNvPr id="7" name="Freeform 7"/>
          <p:cNvSpPr/>
          <p:nvPr/>
        </p:nvSpPr>
        <p:spPr>
          <a:xfrm>
            <a:off x="9333213" y="5607424"/>
            <a:ext cx="5262525" cy="3650876"/>
          </a:xfrm>
          <a:custGeom>
            <a:avLst/>
            <a:gdLst/>
            <a:ahLst/>
            <a:cxnLst/>
            <a:rect l="l" t="t" r="r" b="b"/>
            <a:pathLst>
              <a:path w="5262525" h="3650876">
                <a:moveTo>
                  <a:pt x="0" y="0"/>
                </a:moveTo>
                <a:lnTo>
                  <a:pt x="5262525" y="0"/>
                </a:lnTo>
                <a:lnTo>
                  <a:pt x="5262525" y="3650876"/>
                </a:lnTo>
                <a:lnTo>
                  <a:pt x="0" y="3650876"/>
                </a:lnTo>
                <a:lnTo>
                  <a:pt x="0" y="0"/>
                </a:lnTo>
                <a:close/>
              </a:path>
            </a:pathLst>
          </a:custGeom>
          <a:blipFill>
            <a:blip r:embed="rId4"/>
            <a:stretch>
              <a:fillRect/>
            </a:stretch>
          </a:blipFill>
        </p:spPr>
      </p:sp>
      <p:sp>
        <p:nvSpPr>
          <p:cNvPr id="8" name="Freeform 8"/>
          <p:cNvSpPr/>
          <p:nvPr/>
        </p:nvSpPr>
        <p:spPr>
          <a:xfrm>
            <a:off x="-1575041" y="883709"/>
            <a:ext cx="7105629" cy="1368386"/>
          </a:xfrm>
          <a:custGeom>
            <a:avLst/>
            <a:gdLst/>
            <a:ahLst/>
            <a:cxnLst/>
            <a:rect l="l" t="t" r="r" b="b"/>
            <a:pathLst>
              <a:path w="7105629" h="1368386">
                <a:moveTo>
                  <a:pt x="0" y="0"/>
                </a:moveTo>
                <a:lnTo>
                  <a:pt x="7105629" y="0"/>
                </a:lnTo>
                <a:lnTo>
                  <a:pt x="7105629" y="1368386"/>
                </a:lnTo>
                <a:lnTo>
                  <a:pt x="0" y="136838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9" name="TextBox 9"/>
          <p:cNvSpPr txBox="1"/>
          <p:nvPr/>
        </p:nvSpPr>
        <p:spPr>
          <a:xfrm>
            <a:off x="5845099" y="942975"/>
            <a:ext cx="7436917" cy="565924"/>
          </a:xfrm>
          <a:prstGeom prst="rect">
            <a:avLst/>
          </a:prstGeom>
        </p:spPr>
        <p:txBody>
          <a:bodyPr wrap="square" lIns="0" tIns="0" rIns="0" bIns="0" rtlCol="0" anchor="t">
            <a:spAutoFit/>
          </a:bodyPr>
          <a:lstStyle/>
          <a:p>
            <a:pPr algn="ctr">
              <a:lnSpc>
                <a:spcPts val="4760"/>
              </a:lnSpc>
              <a:spcBef>
                <a:spcPct val="0"/>
              </a:spcBef>
            </a:pPr>
            <a:r>
              <a:rPr lang="en-US" sz="3400" b="1" dirty="0">
                <a:solidFill>
                  <a:srgbClr val="000000"/>
                </a:solidFill>
                <a:latin typeface="Raleway Bold"/>
                <a:ea typeface="Raleway Bold"/>
                <a:cs typeface="Raleway Bold"/>
                <a:sym typeface="Raleway Bold"/>
              </a:rPr>
              <a:t>Cancellation and Seasonal Trends</a:t>
            </a:r>
          </a:p>
        </p:txBody>
      </p:sp>
      <p:sp>
        <p:nvSpPr>
          <p:cNvPr id="10" name="TextBox 10"/>
          <p:cNvSpPr txBox="1"/>
          <p:nvPr/>
        </p:nvSpPr>
        <p:spPr>
          <a:xfrm>
            <a:off x="1478757" y="2910833"/>
            <a:ext cx="7387583" cy="5599430"/>
          </a:xfrm>
          <a:prstGeom prst="rect">
            <a:avLst/>
          </a:prstGeom>
        </p:spPr>
        <p:txBody>
          <a:bodyPr lIns="0" tIns="0" rIns="0" bIns="0" rtlCol="0" anchor="t">
            <a:spAutoFit/>
          </a:bodyPr>
          <a:lstStyle/>
          <a:p>
            <a:pPr algn="l">
              <a:lnSpc>
                <a:spcPts val="3220"/>
              </a:lnSpc>
              <a:spcBef>
                <a:spcPct val="0"/>
              </a:spcBef>
            </a:pPr>
            <a:r>
              <a:rPr lang="en-US" sz="2300">
                <a:solidFill>
                  <a:srgbClr val="000000"/>
                </a:solidFill>
                <a:latin typeface="Raleway"/>
                <a:ea typeface="Raleway"/>
                <a:cs typeface="Raleway"/>
                <a:sym typeface="Raleway"/>
              </a:rPr>
              <a:t>Understanding why flights get cancelled and how cancellation patterns change across months, airlines, and airports.</a:t>
            </a:r>
          </a:p>
          <a:p>
            <a:pPr algn="l">
              <a:lnSpc>
                <a:spcPts val="3220"/>
              </a:lnSpc>
              <a:spcBef>
                <a:spcPct val="0"/>
              </a:spcBef>
            </a:pPr>
            <a:endParaRPr lang="en-US" sz="2300">
              <a:solidFill>
                <a:srgbClr val="000000"/>
              </a:solidFill>
              <a:latin typeface="Raleway"/>
              <a:ea typeface="Raleway"/>
              <a:cs typeface="Raleway"/>
              <a:sym typeface="Raleway"/>
            </a:endParaRPr>
          </a:p>
          <a:p>
            <a:pPr algn="l">
              <a:lnSpc>
                <a:spcPts val="3220"/>
              </a:lnSpc>
              <a:spcBef>
                <a:spcPct val="0"/>
              </a:spcBef>
            </a:pPr>
            <a:r>
              <a:rPr lang="en-US" sz="2300">
                <a:solidFill>
                  <a:srgbClr val="000000"/>
                </a:solidFill>
                <a:latin typeface="Raleway"/>
                <a:ea typeface="Raleway"/>
                <a:cs typeface="Raleway"/>
                <a:sym typeface="Raleway"/>
              </a:rPr>
              <a:t>What’s Done –</a:t>
            </a:r>
          </a:p>
          <a:p>
            <a:pPr marL="496571" lvl="1" indent="-248285" algn="l">
              <a:lnSpc>
                <a:spcPts val="3220"/>
              </a:lnSpc>
              <a:buFont typeface="Arial"/>
              <a:buChar char="•"/>
            </a:pPr>
            <a:r>
              <a:rPr lang="en-US" sz="2300">
                <a:solidFill>
                  <a:srgbClr val="000000"/>
                </a:solidFill>
                <a:latin typeface="Raleway"/>
                <a:ea typeface="Raleway"/>
                <a:cs typeface="Raleway"/>
                <a:sym typeface="Raleway"/>
              </a:rPr>
              <a:t>Analyzed monthly and seasonal cancellation patterns to see when </a:t>
            </a:r>
            <a:r>
              <a:rPr lang="en-US" sz="2300" b="1">
                <a:solidFill>
                  <a:srgbClr val="000000"/>
                </a:solidFill>
                <a:latin typeface="Raleway Bold"/>
                <a:ea typeface="Raleway Bold"/>
                <a:cs typeface="Raleway Bold"/>
                <a:sym typeface="Raleway Bold"/>
              </a:rPr>
              <a:t>cancellations peak</a:t>
            </a:r>
            <a:r>
              <a:rPr lang="en-US" sz="2300">
                <a:solidFill>
                  <a:srgbClr val="000000"/>
                </a:solidFill>
                <a:latin typeface="Raleway"/>
                <a:ea typeface="Raleway"/>
                <a:cs typeface="Raleway"/>
                <a:sym typeface="Raleway"/>
              </a:rPr>
              <a:t>.</a:t>
            </a:r>
          </a:p>
          <a:p>
            <a:pPr marL="496571" lvl="1" indent="-248285" algn="l">
              <a:lnSpc>
                <a:spcPts val="3220"/>
              </a:lnSpc>
              <a:buFont typeface="Arial"/>
              <a:buChar char="•"/>
            </a:pPr>
            <a:r>
              <a:rPr lang="en-US" sz="2300">
                <a:solidFill>
                  <a:srgbClr val="000000"/>
                </a:solidFill>
                <a:latin typeface="Raleway"/>
                <a:ea typeface="Raleway"/>
                <a:cs typeface="Raleway"/>
                <a:sym typeface="Raleway"/>
              </a:rPr>
              <a:t>Studied </a:t>
            </a:r>
            <a:r>
              <a:rPr lang="en-US" sz="2300" b="1">
                <a:solidFill>
                  <a:srgbClr val="000000"/>
                </a:solidFill>
                <a:latin typeface="Raleway Bold"/>
                <a:ea typeface="Raleway Bold"/>
                <a:cs typeface="Raleway Bold"/>
                <a:sym typeface="Raleway Bold"/>
              </a:rPr>
              <a:t>cancellation reasons</a:t>
            </a:r>
            <a:r>
              <a:rPr lang="en-US" sz="2300">
                <a:solidFill>
                  <a:srgbClr val="000000"/>
                </a:solidFill>
                <a:latin typeface="Raleway"/>
                <a:ea typeface="Raleway"/>
                <a:cs typeface="Raleway"/>
                <a:sym typeface="Raleway"/>
              </a:rPr>
              <a:t> such as Carrier, Weather, NAS, and Security.</a:t>
            </a:r>
          </a:p>
          <a:p>
            <a:pPr marL="496571" lvl="1" indent="-248285" algn="l">
              <a:lnSpc>
                <a:spcPts val="3220"/>
              </a:lnSpc>
              <a:buFont typeface="Arial"/>
              <a:buChar char="•"/>
            </a:pPr>
            <a:r>
              <a:rPr lang="en-US" sz="2300" b="1">
                <a:solidFill>
                  <a:srgbClr val="000000"/>
                </a:solidFill>
                <a:latin typeface="Raleway Bold"/>
                <a:ea typeface="Raleway Bold"/>
                <a:cs typeface="Raleway Bold"/>
                <a:sym typeface="Raleway Bold"/>
              </a:rPr>
              <a:t>Mapped cancellation codes</a:t>
            </a:r>
            <a:r>
              <a:rPr lang="en-US" sz="2300">
                <a:solidFill>
                  <a:srgbClr val="000000"/>
                </a:solidFill>
                <a:latin typeface="Raleway"/>
                <a:ea typeface="Raleway"/>
                <a:cs typeface="Raleway"/>
                <a:sym typeface="Raleway"/>
              </a:rPr>
              <a:t> (A, B, C, D, N) to their correct reasons and assigned them properly for analysis.</a:t>
            </a:r>
          </a:p>
          <a:p>
            <a:pPr marL="496571" lvl="1" indent="-248285" algn="l">
              <a:lnSpc>
                <a:spcPts val="3220"/>
              </a:lnSpc>
              <a:buFont typeface="Arial"/>
              <a:buChar char="•"/>
            </a:pPr>
            <a:r>
              <a:rPr lang="en-US" sz="2300">
                <a:solidFill>
                  <a:srgbClr val="000000"/>
                </a:solidFill>
                <a:latin typeface="Raleway"/>
                <a:ea typeface="Raleway"/>
                <a:cs typeface="Raleway"/>
                <a:sym typeface="Raleway"/>
              </a:rPr>
              <a:t>Compared cancellations across </a:t>
            </a:r>
            <a:r>
              <a:rPr lang="en-US" sz="2300" b="1">
                <a:solidFill>
                  <a:srgbClr val="000000"/>
                </a:solidFill>
                <a:latin typeface="Raleway Bold"/>
                <a:ea typeface="Raleway Bold"/>
                <a:cs typeface="Raleway Bold"/>
                <a:sym typeface="Raleway Bold"/>
              </a:rPr>
              <a:t>airlines </a:t>
            </a:r>
            <a:r>
              <a:rPr lang="en-US" sz="2300">
                <a:solidFill>
                  <a:srgbClr val="000000"/>
                </a:solidFill>
                <a:latin typeface="Raleway"/>
                <a:ea typeface="Raleway"/>
                <a:cs typeface="Raleway"/>
                <a:sym typeface="Raleway"/>
              </a:rPr>
              <a:t>and </a:t>
            </a:r>
            <a:r>
              <a:rPr lang="en-US" sz="2300" b="1">
                <a:solidFill>
                  <a:srgbClr val="000000"/>
                </a:solidFill>
                <a:latin typeface="Raleway Bold"/>
                <a:ea typeface="Raleway Bold"/>
                <a:cs typeface="Raleway Bold"/>
                <a:sym typeface="Raleway Bold"/>
              </a:rPr>
              <a:t>routes </a:t>
            </a:r>
            <a:r>
              <a:rPr lang="en-US" sz="2300">
                <a:solidFill>
                  <a:srgbClr val="000000"/>
                </a:solidFill>
                <a:latin typeface="Raleway"/>
                <a:ea typeface="Raleway"/>
                <a:cs typeface="Raleway"/>
                <a:sym typeface="Raleway"/>
              </a:rPr>
              <a:t>to find which ones face the most disruptions.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CFE8FF"/>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3051737" cy="10287000"/>
            <a:chOff x="0" y="0"/>
            <a:chExt cx="803750" cy="2709333"/>
          </a:xfrm>
        </p:grpSpPr>
        <p:sp>
          <p:nvSpPr>
            <p:cNvPr id="3" name="Freeform 3"/>
            <p:cNvSpPr/>
            <p:nvPr/>
          </p:nvSpPr>
          <p:spPr>
            <a:xfrm>
              <a:off x="0" y="0"/>
              <a:ext cx="803750" cy="2709333"/>
            </a:xfrm>
            <a:custGeom>
              <a:avLst/>
              <a:gdLst/>
              <a:ahLst/>
              <a:cxnLst/>
              <a:rect l="l" t="t" r="r" b="b"/>
              <a:pathLst>
                <a:path w="803750" h="2709333">
                  <a:moveTo>
                    <a:pt x="0" y="0"/>
                  </a:moveTo>
                  <a:lnTo>
                    <a:pt x="803750" y="0"/>
                  </a:lnTo>
                  <a:lnTo>
                    <a:pt x="803750" y="2709333"/>
                  </a:lnTo>
                  <a:lnTo>
                    <a:pt x="0" y="2709333"/>
                  </a:lnTo>
                  <a:close/>
                </a:path>
              </a:pathLst>
            </a:custGeom>
            <a:solidFill>
              <a:srgbClr val="FFFFFF"/>
            </a:solidFill>
          </p:spPr>
        </p:sp>
        <p:sp>
          <p:nvSpPr>
            <p:cNvPr id="4" name="TextBox 4"/>
            <p:cNvSpPr txBox="1"/>
            <p:nvPr/>
          </p:nvSpPr>
          <p:spPr>
            <a:xfrm>
              <a:off x="0" y="-57150"/>
              <a:ext cx="803750" cy="2766483"/>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7091708" y="738692"/>
            <a:ext cx="5530588" cy="1355102"/>
          </a:xfrm>
          <a:custGeom>
            <a:avLst/>
            <a:gdLst/>
            <a:ahLst/>
            <a:cxnLst/>
            <a:rect l="l" t="t" r="r" b="b"/>
            <a:pathLst>
              <a:path w="6578166" h="1355102">
                <a:moveTo>
                  <a:pt x="0" y="0"/>
                </a:moveTo>
                <a:lnTo>
                  <a:pt x="6578166" y="0"/>
                </a:lnTo>
                <a:lnTo>
                  <a:pt x="6578166" y="1355102"/>
                </a:lnTo>
                <a:lnTo>
                  <a:pt x="0" y="1355102"/>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0" y="883709"/>
            <a:ext cx="6616262" cy="1065068"/>
          </a:xfrm>
          <a:custGeom>
            <a:avLst/>
            <a:gdLst/>
            <a:ahLst/>
            <a:cxnLst/>
            <a:rect l="l" t="t" r="r" b="b"/>
            <a:pathLst>
              <a:path w="5530588" h="1065068">
                <a:moveTo>
                  <a:pt x="0" y="0"/>
                </a:moveTo>
                <a:lnTo>
                  <a:pt x="5530588" y="0"/>
                </a:lnTo>
                <a:lnTo>
                  <a:pt x="5530588" y="1065068"/>
                </a:lnTo>
                <a:lnTo>
                  <a:pt x="0" y="1065068"/>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7" name="TextBox 7"/>
          <p:cNvSpPr txBox="1"/>
          <p:nvPr/>
        </p:nvSpPr>
        <p:spPr>
          <a:xfrm>
            <a:off x="7884758" y="942975"/>
            <a:ext cx="3469042" cy="721995"/>
          </a:xfrm>
          <a:prstGeom prst="rect">
            <a:avLst/>
          </a:prstGeom>
        </p:spPr>
        <p:txBody>
          <a:bodyPr wrap="square" lIns="0" tIns="0" rIns="0" bIns="0" rtlCol="0" anchor="t">
            <a:spAutoFit/>
          </a:bodyPr>
          <a:lstStyle/>
          <a:p>
            <a:pPr algn="ctr">
              <a:lnSpc>
                <a:spcPts val="5880"/>
              </a:lnSpc>
              <a:spcBef>
                <a:spcPct val="0"/>
              </a:spcBef>
            </a:pPr>
            <a:r>
              <a:rPr lang="en-US" sz="4200" b="1" dirty="0">
                <a:solidFill>
                  <a:srgbClr val="000000"/>
                </a:solidFill>
                <a:latin typeface="Raleway Bold"/>
                <a:ea typeface="Raleway Bold"/>
                <a:cs typeface="Raleway Bold"/>
                <a:sym typeface="Raleway Bold"/>
              </a:rPr>
              <a:t>Challenges</a:t>
            </a:r>
          </a:p>
        </p:txBody>
      </p:sp>
      <p:sp>
        <p:nvSpPr>
          <p:cNvPr id="8" name="TextBox 8"/>
          <p:cNvSpPr txBox="1"/>
          <p:nvPr/>
        </p:nvSpPr>
        <p:spPr>
          <a:xfrm>
            <a:off x="4046505" y="3198688"/>
            <a:ext cx="11358305" cy="4813300"/>
          </a:xfrm>
          <a:prstGeom prst="rect">
            <a:avLst/>
          </a:prstGeom>
        </p:spPr>
        <p:txBody>
          <a:bodyPr lIns="0" tIns="0" rIns="0" bIns="0" rtlCol="0" anchor="t">
            <a:spAutoFit/>
          </a:bodyPr>
          <a:lstStyle/>
          <a:p>
            <a:pPr marL="539749" lvl="1" indent="-269875" algn="l">
              <a:lnSpc>
                <a:spcPts val="3499"/>
              </a:lnSpc>
              <a:buFont typeface="Arial"/>
              <a:buChar char="•"/>
            </a:pPr>
            <a:r>
              <a:rPr lang="en-US" sz="2499" b="1">
                <a:solidFill>
                  <a:srgbClr val="000000"/>
                </a:solidFill>
                <a:latin typeface="Raleway Bold"/>
                <a:ea typeface="Raleway Bold"/>
                <a:cs typeface="Raleway Bold"/>
                <a:sym typeface="Raleway Bold"/>
              </a:rPr>
              <a:t>Large Dataset Size </a:t>
            </a:r>
            <a:r>
              <a:rPr lang="en-US" sz="2499">
                <a:solidFill>
                  <a:srgbClr val="000000"/>
                </a:solidFill>
                <a:latin typeface="Raleway"/>
                <a:ea typeface="Raleway"/>
                <a:cs typeface="Raleway"/>
                <a:sym typeface="Raleway"/>
              </a:rPr>
              <a:t>– Handling a big dataset caused slow processing and required memory optimization.</a:t>
            </a:r>
          </a:p>
          <a:p>
            <a:pPr algn="l">
              <a:lnSpc>
                <a:spcPts val="3499"/>
              </a:lnSpc>
            </a:pPr>
            <a:endParaRPr lang="en-US" sz="2499">
              <a:solidFill>
                <a:srgbClr val="000000"/>
              </a:solidFill>
              <a:latin typeface="Raleway"/>
              <a:ea typeface="Raleway"/>
              <a:cs typeface="Raleway"/>
              <a:sym typeface="Raleway"/>
            </a:endParaRPr>
          </a:p>
          <a:p>
            <a:pPr marL="539749" lvl="1" indent="-269875" algn="l">
              <a:lnSpc>
                <a:spcPts val="3499"/>
              </a:lnSpc>
              <a:buFont typeface="Arial"/>
              <a:buChar char="•"/>
            </a:pPr>
            <a:r>
              <a:rPr lang="en-US" sz="2499" b="1">
                <a:solidFill>
                  <a:srgbClr val="000000"/>
                </a:solidFill>
                <a:latin typeface="Raleway Bold"/>
                <a:ea typeface="Raleway Bold"/>
                <a:cs typeface="Raleway Bold"/>
                <a:sym typeface="Raleway Bold"/>
              </a:rPr>
              <a:t>Missing and Inconsistent Data</a:t>
            </a:r>
            <a:r>
              <a:rPr lang="en-US" sz="2499">
                <a:solidFill>
                  <a:srgbClr val="000000"/>
                </a:solidFill>
                <a:latin typeface="Raleway"/>
                <a:ea typeface="Raleway"/>
                <a:cs typeface="Raleway"/>
                <a:sym typeface="Raleway"/>
              </a:rPr>
              <a:t> – Many delay and cancellation columns had null or incorrect values that needed careful cleaning</a:t>
            </a:r>
          </a:p>
          <a:p>
            <a:pPr algn="l">
              <a:lnSpc>
                <a:spcPts val="3499"/>
              </a:lnSpc>
            </a:pPr>
            <a:endParaRPr lang="en-US" sz="2499">
              <a:solidFill>
                <a:srgbClr val="000000"/>
              </a:solidFill>
              <a:latin typeface="Raleway"/>
              <a:ea typeface="Raleway"/>
              <a:cs typeface="Raleway"/>
              <a:sym typeface="Raleway"/>
            </a:endParaRPr>
          </a:p>
          <a:p>
            <a:pPr marL="539749" lvl="1" indent="-269875" algn="l">
              <a:lnSpc>
                <a:spcPts val="3499"/>
              </a:lnSpc>
              <a:buFont typeface="Arial"/>
              <a:buChar char="•"/>
            </a:pPr>
            <a:r>
              <a:rPr lang="en-US" sz="2499" b="1">
                <a:solidFill>
                  <a:srgbClr val="000000"/>
                </a:solidFill>
                <a:latin typeface="Raleway Bold"/>
                <a:ea typeface="Raleway Bold"/>
                <a:cs typeface="Raleway Bold"/>
                <a:sym typeface="Raleway Bold"/>
              </a:rPr>
              <a:t>Complex Date &amp; Time Formatting </a:t>
            </a:r>
            <a:r>
              <a:rPr lang="en-US" sz="2499">
                <a:solidFill>
                  <a:srgbClr val="000000"/>
                </a:solidFill>
                <a:latin typeface="Raleway"/>
                <a:ea typeface="Raleway"/>
                <a:cs typeface="Raleway"/>
                <a:sym typeface="Raleway"/>
              </a:rPr>
              <a:t>– Converting multiple time columns into proper datetime formats was challenging.</a:t>
            </a:r>
          </a:p>
          <a:p>
            <a:pPr algn="l">
              <a:lnSpc>
                <a:spcPts val="3499"/>
              </a:lnSpc>
            </a:pPr>
            <a:endParaRPr lang="en-US" sz="2499">
              <a:solidFill>
                <a:srgbClr val="000000"/>
              </a:solidFill>
              <a:latin typeface="Raleway"/>
              <a:ea typeface="Raleway"/>
              <a:cs typeface="Raleway"/>
              <a:sym typeface="Raleway"/>
            </a:endParaRPr>
          </a:p>
          <a:p>
            <a:pPr marL="539749" lvl="1" indent="-269875" algn="l">
              <a:lnSpc>
                <a:spcPts val="3499"/>
              </a:lnSpc>
              <a:buFont typeface="Arial"/>
              <a:buChar char="•"/>
            </a:pPr>
            <a:r>
              <a:rPr lang="en-US" sz="2499" b="1">
                <a:solidFill>
                  <a:srgbClr val="000000"/>
                </a:solidFill>
                <a:latin typeface="Raleway Bold"/>
                <a:ea typeface="Raleway Bold"/>
                <a:cs typeface="Raleway Bold"/>
                <a:sym typeface="Raleway Bold"/>
              </a:rPr>
              <a:t>Mapping Cancellation Codes</a:t>
            </a:r>
            <a:r>
              <a:rPr lang="en-US" sz="2499">
                <a:solidFill>
                  <a:srgbClr val="000000"/>
                </a:solidFill>
                <a:latin typeface="Raleway"/>
                <a:ea typeface="Raleway"/>
                <a:cs typeface="Raleway"/>
                <a:sym typeface="Raleway"/>
              </a:rPr>
              <a:t> – Cancellation codes (A, B, C, D, N) had to be correctly mapped to their reasons.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CFE8FF"/>
        </a:solidFill>
        <a:effectLst/>
      </p:bgPr>
    </p:bg>
    <p:spTree>
      <p:nvGrpSpPr>
        <p:cNvPr id="1" name=""/>
        <p:cNvGrpSpPr/>
        <p:nvPr/>
      </p:nvGrpSpPr>
      <p:grpSpPr>
        <a:xfrm>
          <a:off x="0" y="0"/>
          <a:ext cx="0" cy="0"/>
          <a:chOff x="0" y="0"/>
          <a:chExt cx="0" cy="0"/>
        </a:xfrm>
      </p:grpSpPr>
      <p:sp>
        <p:nvSpPr>
          <p:cNvPr id="2" name="Freeform 2"/>
          <p:cNvSpPr/>
          <p:nvPr/>
        </p:nvSpPr>
        <p:spPr>
          <a:xfrm>
            <a:off x="6701169" y="901256"/>
            <a:ext cx="5135036" cy="1057817"/>
          </a:xfrm>
          <a:custGeom>
            <a:avLst/>
            <a:gdLst/>
            <a:ahLst/>
            <a:cxnLst/>
            <a:rect l="l" t="t" r="r" b="b"/>
            <a:pathLst>
              <a:path w="5135036" h="1057817">
                <a:moveTo>
                  <a:pt x="0" y="0"/>
                </a:moveTo>
                <a:lnTo>
                  <a:pt x="5135035" y="0"/>
                </a:lnTo>
                <a:lnTo>
                  <a:pt x="5135035" y="1057817"/>
                </a:lnTo>
                <a:lnTo>
                  <a:pt x="0" y="105781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3899133" y="3562472"/>
            <a:ext cx="10489734" cy="4813300"/>
          </a:xfrm>
          <a:prstGeom prst="rect">
            <a:avLst/>
          </a:prstGeom>
        </p:spPr>
        <p:txBody>
          <a:bodyPr lIns="0" tIns="0" rIns="0" bIns="0" rtlCol="0" anchor="t">
            <a:spAutoFit/>
          </a:bodyPr>
          <a:lstStyle/>
          <a:p>
            <a:pPr marL="539749" lvl="1" indent="-269875" algn="l">
              <a:lnSpc>
                <a:spcPts val="3499"/>
              </a:lnSpc>
              <a:buFont typeface="Arial"/>
              <a:buChar char="•"/>
            </a:pPr>
            <a:r>
              <a:rPr lang="en-US" sz="2499" b="1">
                <a:solidFill>
                  <a:srgbClr val="000000"/>
                </a:solidFill>
                <a:latin typeface="Raleway Bold"/>
                <a:ea typeface="Raleway Bold"/>
                <a:cs typeface="Raleway Bold"/>
                <a:sym typeface="Raleway Bold"/>
              </a:rPr>
              <a:t>Build Predictive Models</a:t>
            </a:r>
            <a:r>
              <a:rPr lang="en-US" sz="2499">
                <a:solidFill>
                  <a:srgbClr val="000000"/>
                </a:solidFill>
                <a:latin typeface="Raleway"/>
                <a:ea typeface="Raleway"/>
                <a:cs typeface="Raleway"/>
                <a:sym typeface="Raleway"/>
              </a:rPr>
              <a:t> – Use machine learning to predict flight delays and cancellations in advance.</a:t>
            </a:r>
          </a:p>
          <a:p>
            <a:pPr algn="l">
              <a:lnSpc>
                <a:spcPts val="3499"/>
              </a:lnSpc>
            </a:pPr>
            <a:endParaRPr lang="en-US" sz="2499">
              <a:solidFill>
                <a:srgbClr val="000000"/>
              </a:solidFill>
              <a:latin typeface="Raleway"/>
              <a:ea typeface="Raleway"/>
              <a:cs typeface="Raleway"/>
              <a:sym typeface="Raleway"/>
            </a:endParaRPr>
          </a:p>
          <a:p>
            <a:pPr marL="539749" lvl="1" indent="-269875" algn="l">
              <a:lnSpc>
                <a:spcPts val="3499"/>
              </a:lnSpc>
              <a:buFont typeface="Arial"/>
              <a:buChar char="•"/>
            </a:pPr>
            <a:r>
              <a:rPr lang="en-US" sz="2499" b="1">
                <a:solidFill>
                  <a:srgbClr val="000000"/>
                </a:solidFill>
                <a:latin typeface="Raleway Bold"/>
                <a:ea typeface="Raleway Bold"/>
                <a:cs typeface="Raleway Bold"/>
                <a:sym typeface="Raleway Bold"/>
              </a:rPr>
              <a:t>Real-Time Dashboard</a:t>
            </a:r>
            <a:r>
              <a:rPr lang="en-US" sz="2499">
                <a:solidFill>
                  <a:srgbClr val="000000"/>
                </a:solidFill>
                <a:latin typeface="Raleway"/>
                <a:ea typeface="Raleway"/>
                <a:cs typeface="Raleway"/>
                <a:sym typeface="Raleway"/>
              </a:rPr>
              <a:t> – Develop a live Power BI or Streamlit dashboard using updated flight data.</a:t>
            </a:r>
          </a:p>
          <a:p>
            <a:pPr algn="l">
              <a:lnSpc>
                <a:spcPts val="3499"/>
              </a:lnSpc>
            </a:pPr>
            <a:endParaRPr lang="en-US" sz="2499">
              <a:solidFill>
                <a:srgbClr val="000000"/>
              </a:solidFill>
              <a:latin typeface="Raleway"/>
              <a:ea typeface="Raleway"/>
              <a:cs typeface="Raleway"/>
              <a:sym typeface="Raleway"/>
            </a:endParaRPr>
          </a:p>
          <a:p>
            <a:pPr marL="539749" lvl="1" indent="-269875" algn="l">
              <a:lnSpc>
                <a:spcPts val="3499"/>
              </a:lnSpc>
              <a:buFont typeface="Arial"/>
              <a:buChar char="•"/>
            </a:pPr>
            <a:r>
              <a:rPr lang="en-US" sz="2499" b="1">
                <a:solidFill>
                  <a:srgbClr val="000000"/>
                </a:solidFill>
                <a:latin typeface="Raleway Bold"/>
                <a:ea typeface="Raleway Bold"/>
                <a:cs typeface="Raleway Bold"/>
                <a:sym typeface="Raleway Bold"/>
              </a:rPr>
              <a:t>Integrate Weather &amp; Traffic Data</a:t>
            </a:r>
            <a:r>
              <a:rPr lang="en-US" sz="2499">
                <a:solidFill>
                  <a:srgbClr val="000000"/>
                </a:solidFill>
                <a:latin typeface="Raleway"/>
                <a:ea typeface="Raleway"/>
                <a:cs typeface="Raleway"/>
                <a:sym typeface="Raleway"/>
              </a:rPr>
              <a:t> – Combine external datasets to improve accuracy of delay analysis.</a:t>
            </a:r>
          </a:p>
          <a:p>
            <a:pPr algn="l">
              <a:lnSpc>
                <a:spcPts val="3499"/>
              </a:lnSpc>
            </a:pPr>
            <a:endParaRPr lang="en-US" sz="2499">
              <a:solidFill>
                <a:srgbClr val="000000"/>
              </a:solidFill>
              <a:latin typeface="Raleway"/>
              <a:ea typeface="Raleway"/>
              <a:cs typeface="Raleway"/>
              <a:sym typeface="Raleway"/>
            </a:endParaRPr>
          </a:p>
          <a:p>
            <a:pPr marL="539749" lvl="1" indent="-269875" algn="l">
              <a:lnSpc>
                <a:spcPts val="3499"/>
              </a:lnSpc>
              <a:buFont typeface="Arial"/>
              <a:buChar char="•"/>
            </a:pPr>
            <a:r>
              <a:rPr lang="en-US" sz="2499" b="1">
                <a:solidFill>
                  <a:srgbClr val="000000"/>
                </a:solidFill>
                <a:latin typeface="Raleway Bold"/>
                <a:ea typeface="Raleway Bold"/>
                <a:cs typeface="Raleway Bold"/>
                <a:sym typeface="Raleway Bold"/>
              </a:rPr>
              <a:t>Route Optimization Insights</a:t>
            </a:r>
            <a:r>
              <a:rPr lang="en-US" sz="2499">
                <a:solidFill>
                  <a:srgbClr val="000000"/>
                </a:solidFill>
                <a:latin typeface="Raleway"/>
                <a:ea typeface="Raleway"/>
                <a:cs typeface="Raleway"/>
                <a:sym typeface="Raleway"/>
              </a:rPr>
              <a:t> – Suggest the best-performing routes and airports based on historical trends.</a:t>
            </a:r>
          </a:p>
        </p:txBody>
      </p:sp>
      <p:sp>
        <p:nvSpPr>
          <p:cNvPr id="4" name="Freeform 4"/>
          <p:cNvSpPr/>
          <p:nvPr/>
        </p:nvSpPr>
        <p:spPr>
          <a:xfrm flipH="1">
            <a:off x="12082055" y="-4133820"/>
            <a:ext cx="5323144" cy="6808673"/>
          </a:xfrm>
          <a:custGeom>
            <a:avLst/>
            <a:gdLst/>
            <a:ahLst/>
            <a:cxnLst/>
            <a:rect l="l" t="t" r="r" b="b"/>
            <a:pathLst>
              <a:path w="5323144" h="6808673">
                <a:moveTo>
                  <a:pt x="5323144" y="0"/>
                </a:moveTo>
                <a:lnTo>
                  <a:pt x="0" y="0"/>
                </a:lnTo>
                <a:lnTo>
                  <a:pt x="0" y="6808673"/>
                </a:lnTo>
                <a:lnTo>
                  <a:pt x="5323144" y="6808673"/>
                </a:lnTo>
                <a:lnTo>
                  <a:pt x="5323144" y="0"/>
                </a:lnTo>
                <a:close/>
              </a:path>
            </a:pathLst>
          </a:custGeom>
          <a:blipFill>
            <a:blip>
              <a:extLst>
                <a:ext uri="{96DAC541-7B7A-43D3-8B79-37D633B846F1}">
                  <asvg:svgBlip xmlns:asvg="http://schemas.microsoft.com/office/drawing/2016/SVG/main" r:embed="rId3"/>
                </a:ext>
              </a:extLst>
            </a:blip>
            <a:stretch>
              <a:fillRect/>
            </a:stretch>
          </a:blipFill>
        </p:spPr>
      </p:sp>
      <p:sp>
        <p:nvSpPr>
          <p:cNvPr id="5" name="Freeform 5"/>
          <p:cNvSpPr/>
          <p:nvPr/>
        </p:nvSpPr>
        <p:spPr>
          <a:xfrm>
            <a:off x="3899133" y="3134550"/>
            <a:ext cx="10489734" cy="5761526"/>
          </a:xfrm>
          <a:custGeom>
            <a:avLst/>
            <a:gdLst/>
            <a:ahLst/>
            <a:cxnLst/>
            <a:rect l="l" t="t" r="r" b="b"/>
            <a:pathLst>
              <a:path w="10489734" h="5761526">
                <a:moveTo>
                  <a:pt x="0" y="0"/>
                </a:moveTo>
                <a:lnTo>
                  <a:pt x="10489734" y="0"/>
                </a:lnTo>
                <a:lnTo>
                  <a:pt x="10489734" y="5761525"/>
                </a:lnTo>
                <a:lnTo>
                  <a:pt x="0" y="5761525"/>
                </a:lnTo>
                <a:lnTo>
                  <a:pt x="0" y="0"/>
                </a:lnTo>
                <a:close/>
              </a:path>
            </a:pathLst>
          </a:custGeom>
          <a:blipFill>
            <a:blip>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7852795" y="1079327"/>
            <a:ext cx="3272405" cy="578620"/>
          </a:xfrm>
          <a:prstGeom prst="rect">
            <a:avLst/>
          </a:prstGeom>
        </p:spPr>
        <p:txBody>
          <a:bodyPr wrap="square" lIns="0" tIns="0" rIns="0" bIns="0" rtlCol="0" anchor="t">
            <a:spAutoFit/>
          </a:bodyPr>
          <a:lstStyle/>
          <a:p>
            <a:pPr algn="ctr">
              <a:lnSpc>
                <a:spcPts val="4900"/>
              </a:lnSpc>
              <a:spcBef>
                <a:spcPct val="0"/>
              </a:spcBef>
            </a:pPr>
            <a:r>
              <a:rPr lang="en-US" sz="3500" b="1" dirty="0">
                <a:solidFill>
                  <a:srgbClr val="000000"/>
                </a:solidFill>
                <a:latin typeface="Raleway Bold"/>
                <a:ea typeface="Raleway Bold"/>
                <a:cs typeface="Raleway Bold"/>
                <a:sym typeface="Raleway Bold"/>
              </a:rPr>
              <a:t>Future Scope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CFE8FF"/>
        </a:solidFill>
        <a:effectLst/>
      </p:bgPr>
    </p:bg>
    <p:spTree>
      <p:nvGrpSpPr>
        <p:cNvPr id="1" name=""/>
        <p:cNvGrpSpPr/>
        <p:nvPr/>
      </p:nvGrpSpPr>
      <p:grpSpPr>
        <a:xfrm>
          <a:off x="0" y="0"/>
          <a:ext cx="0" cy="0"/>
          <a:chOff x="0" y="0"/>
          <a:chExt cx="0" cy="0"/>
        </a:xfrm>
      </p:grpSpPr>
      <p:sp>
        <p:nvSpPr>
          <p:cNvPr id="2" name="Freeform 2"/>
          <p:cNvSpPr/>
          <p:nvPr/>
        </p:nvSpPr>
        <p:spPr>
          <a:xfrm>
            <a:off x="6701169" y="876300"/>
            <a:ext cx="5135036" cy="1057817"/>
          </a:xfrm>
          <a:custGeom>
            <a:avLst/>
            <a:gdLst/>
            <a:ahLst/>
            <a:cxnLst/>
            <a:rect l="l" t="t" r="r" b="b"/>
            <a:pathLst>
              <a:path w="5135036" h="1057817">
                <a:moveTo>
                  <a:pt x="0" y="0"/>
                </a:moveTo>
                <a:lnTo>
                  <a:pt x="5135035" y="0"/>
                </a:lnTo>
                <a:lnTo>
                  <a:pt x="5135035" y="1057817"/>
                </a:lnTo>
                <a:lnTo>
                  <a:pt x="0" y="1057817"/>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3" name="TextBox 3"/>
          <p:cNvSpPr txBox="1"/>
          <p:nvPr/>
        </p:nvSpPr>
        <p:spPr>
          <a:xfrm>
            <a:off x="3690272" y="3903101"/>
            <a:ext cx="12214027" cy="2929890"/>
          </a:xfrm>
          <a:prstGeom prst="rect">
            <a:avLst/>
          </a:prstGeom>
        </p:spPr>
        <p:txBody>
          <a:bodyPr lIns="0" tIns="0" rIns="0" bIns="0" rtlCol="0" anchor="t">
            <a:spAutoFit/>
          </a:bodyPr>
          <a:lstStyle/>
          <a:p>
            <a:pPr marL="518160" lvl="1" indent="-259080" algn="l">
              <a:lnSpc>
                <a:spcPts val="3359"/>
              </a:lnSpc>
              <a:buFont typeface="Arial"/>
              <a:buChar char="•"/>
            </a:pPr>
            <a:r>
              <a:rPr lang="en-US" sz="2400">
                <a:solidFill>
                  <a:srgbClr val="000000"/>
                </a:solidFill>
                <a:latin typeface="Raleway"/>
                <a:ea typeface="Raleway"/>
                <a:cs typeface="Raleway"/>
                <a:sym typeface="Raleway"/>
              </a:rPr>
              <a:t>Cleaned and analyzed large airline datasets to understand operational patterns.</a:t>
            </a:r>
          </a:p>
          <a:p>
            <a:pPr algn="l">
              <a:lnSpc>
                <a:spcPts val="3359"/>
              </a:lnSpc>
            </a:pPr>
            <a:endParaRPr lang="en-US" sz="2400">
              <a:solidFill>
                <a:srgbClr val="000000"/>
              </a:solidFill>
              <a:latin typeface="Raleway"/>
              <a:ea typeface="Raleway"/>
              <a:cs typeface="Raleway"/>
              <a:sym typeface="Raleway"/>
            </a:endParaRPr>
          </a:p>
          <a:p>
            <a:pPr marL="518160" lvl="1" indent="-259080" algn="l">
              <a:lnSpc>
                <a:spcPts val="3359"/>
              </a:lnSpc>
              <a:buFont typeface="Arial"/>
              <a:buChar char="•"/>
            </a:pPr>
            <a:r>
              <a:rPr lang="en-US" sz="2400">
                <a:solidFill>
                  <a:srgbClr val="000000"/>
                </a:solidFill>
                <a:latin typeface="Raleway"/>
                <a:ea typeface="Raleway"/>
                <a:cs typeface="Raleway"/>
                <a:sym typeface="Raleway"/>
              </a:rPr>
              <a:t>Identified key delay causes, cancellation trends, and high-risk routes.</a:t>
            </a:r>
          </a:p>
          <a:p>
            <a:pPr algn="l">
              <a:lnSpc>
                <a:spcPts val="3359"/>
              </a:lnSpc>
            </a:pPr>
            <a:endParaRPr lang="en-US" sz="2400">
              <a:solidFill>
                <a:srgbClr val="000000"/>
              </a:solidFill>
              <a:latin typeface="Raleway"/>
              <a:ea typeface="Raleway"/>
              <a:cs typeface="Raleway"/>
              <a:sym typeface="Raleway"/>
            </a:endParaRPr>
          </a:p>
          <a:p>
            <a:pPr marL="518160" lvl="1" indent="-259080" algn="l">
              <a:lnSpc>
                <a:spcPts val="3359"/>
              </a:lnSpc>
              <a:buFont typeface="Arial"/>
              <a:buChar char="•"/>
            </a:pPr>
            <a:r>
              <a:rPr lang="en-US" sz="2400">
                <a:solidFill>
                  <a:srgbClr val="000000"/>
                </a:solidFill>
                <a:latin typeface="Raleway"/>
                <a:ea typeface="Raleway"/>
                <a:cs typeface="Raleway"/>
                <a:sym typeface="Raleway"/>
              </a:rPr>
              <a:t>Visual insights revealed peak delay times, seasonal trends, and airline performance.</a:t>
            </a:r>
          </a:p>
          <a:p>
            <a:pPr algn="l">
              <a:lnSpc>
                <a:spcPts val="3359"/>
              </a:lnSpc>
            </a:pPr>
            <a:endParaRPr lang="en-US" sz="2400">
              <a:solidFill>
                <a:srgbClr val="000000"/>
              </a:solidFill>
              <a:latin typeface="Raleway"/>
              <a:ea typeface="Raleway"/>
              <a:cs typeface="Raleway"/>
              <a:sym typeface="Raleway"/>
            </a:endParaRPr>
          </a:p>
          <a:p>
            <a:pPr marL="518160" lvl="1" indent="-259080" algn="l">
              <a:lnSpc>
                <a:spcPts val="3359"/>
              </a:lnSpc>
              <a:buFont typeface="Arial"/>
              <a:buChar char="•"/>
            </a:pPr>
            <a:r>
              <a:rPr lang="en-US" sz="2400">
                <a:solidFill>
                  <a:srgbClr val="000000"/>
                </a:solidFill>
                <a:latin typeface="Raleway"/>
                <a:ea typeface="Raleway"/>
                <a:cs typeface="Raleway"/>
                <a:sym typeface="Raleway"/>
              </a:rPr>
              <a:t>The findings support better decision-making and future real-time improvements.</a:t>
            </a:r>
          </a:p>
        </p:txBody>
      </p:sp>
      <p:grpSp>
        <p:nvGrpSpPr>
          <p:cNvPr id="4" name="Group 4"/>
          <p:cNvGrpSpPr/>
          <p:nvPr/>
        </p:nvGrpSpPr>
        <p:grpSpPr>
          <a:xfrm>
            <a:off x="0" y="0"/>
            <a:ext cx="1247019" cy="10467966"/>
            <a:chOff x="0" y="0"/>
            <a:chExt cx="328433" cy="2756995"/>
          </a:xfrm>
        </p:grpSpPr>
        <p:sp>
          <p:nvSpPr>
            <p:cNvPr id="5" name="Freeform 5"/>
            <p:cNvSpPr/>
            <p:nvPr/>
          </p:nvSpPr>
          <p:spPr>
            <a:xfrm>
              <a:off x="0" y="0"/>
              <a:ext cx="328433" cy="2756995"/>
            </a:xfrm>
            <a:custGeom>
              <a:avLst/>
              <a:gdLst/>
              <a:ahLst/>
              <a:cxnLst/>
              <a:rect l="l" t="t" r="r" b="b"/>
              <a:pathLst>
                <a:path w="328433" h="2756995">
                  <a:moveTo>
                    <a:pt x="0" y="0"/>
                  </a:moveTo>
                  <a:lnTo>
                    <a:pt x="328433" y="0"/>
                  </a:lnTo>
                  <a:lnTo>
                    <a:pt x="328433" y="2756995"/>
                  </a:lnTo>
                  <a:lnTo>
                    <a:pt x="0" y="2756995"/>
                  </a:lnTo>
                  <a:close/>
                </a:path>
              </a:pathLst>
            </a:custGeom>
            <a:solidFill>
              <a:srgbClr val="FFFFFF"/>
            </a:solidFill>
          </p:spPr>
        </p:sp>
        <p:sp>
          <p:nvSpPr>
            <p:cNvPr id="6" name="TextBox 6"/>
            <p:cNvSpPr txBox="1"/>
            <p:nvPr/>
          </p:nvSpPr>
          <p:spPr>
            <a:xfrm>
              <a:off x="0" y="-57150"/>
              <a:ext cx="328433" cy="2814145"/>
            </a:xfrm>
            <a:prstGeom prst="rect">
              <a:avLst/>
            </a:prstGeom>
          </p:spPr>
          <p:txBody>
            <a:bodyPr lIns="50800" tIns="50800" rIns="50800" bIns="50800" rtlCol="0" anchor="ctr"/>
            <a:lstStyle/>
            <a:p>
              <a:pPr algn="ctr">
                <a:lnSpc>
                  <a:spcPts val="3220"/>
                </a:lnSpc>
              </a:pPr>
              <a:endParaRPr/>
            </a:p>
          </p:txBody>
        </p:sp>
      </p:grpSp>
      <p:sp>
        <p:nvSpPr>
          <p:cNvPr id="7" name="Freeform 7"/>
          <p:cNvSpPr/>
          <p:nvPr/>
        </p:nvSpPr>
        <p:spPr>
          <a:xfrm>
            <a:off x="1028700" y="-3903935"/>
            <a:ext cx="5323144" cy="6808673"/>
          </a:xfrm>
          <a:custGeom>
            <a:avLst/>
            <a:gdLst/>
            <a:ahLst/>
            <a:cxnLst/>
            <a:rect l="l" t="t" r="r" b="b"/>
            <a:pathLst>
              <a:path w="5323144" h="6808673">
                <a:moveTo>
                  <a:pt x="0" y="0"/>
                </a:moveTo>
                <a:lnTo>
                  <a:pt x="5323144" y="0"/>
                </a:lnTo>
                <a:lnTo>
                  <a:pt x="5323144" y="6808673"/>
                </a:lnTo>
                <a:lnTo>
                  <a:pt x="0" y="6808673"/>
                </a:lnTo>
                <a:lnTo>
                  <a:pt x="0" y="0"/>
                </a:lnTo>
                <a:close/>
              </a:path>
            </a:pathLst>
          </a:custGeom>
          <a:blipFill>
            <a:blip>
              <a:extLst>
                <a:ext uri="{96DAC541-7B7A-43D3-8B79-37D633B846F1}">
                  <asvg:svgBlip xmlns:asvg="http://schemas.microsoft.com/office/drawing/2016/SVG/main" r:embed="rId3"/>
                </a:ext>
              </a:extLst>
            </a:blip>
            <a:stretch>
              <a:fillRect/>
            </a:stretch>
          </a:blipFill>
        </p:spPr>
      </p:sp>
      <p:sp>
        <p:nvSpPr>
          <p:cNvPr id="8" name="TextBox 8"/>
          <p:cNvSpPr txBox="1"/>
          <p:nvPr/>
        </p:nvSpPr>
        <p:spPr>
          <a:xfrm>
            <a:off x="8052284" y="1049800"/>
            <a:ext cx="2844316" cy="626262"/>
          </a:xfrm>
          <a:prstGeom prst="rect">
            <a:avLst/>
          </a:prstGeom>
        </p:spPr>
        <p:txBody>
          <a:bodyPr wrap="square" lIns="0" tIns="0" rIns="0" bIns="0" rtlCol="0" anchor="t">
            <a:spAutoFit/>
          </a:bodyPr>
          <a:lstStyle/>
          <a:p>
            <a:pPr algn="ctr">
              <a:lnSpc>
                <a:spcPts val="5320"/>
              </a:lnSpc>
              <a:spcBef>
                <a:spcPct val="0"/>
              </a:spcBef>
            </a:pPr>
            <a:r>
              <a:rPr lang="en-US" sz="3800" b="1" dirty="0">
                <a:solidFill>
                  <a:srgbClr val="000000"/>
                </a:solidFill>
                <a:latin typeface="Raleway Bold"/>
                <a:ea typeface="Raleway Bold"/>
                <a:cs typeface="Raleway Bold"/>
                <a:sym typeface="Raleway Bold"/>
              </a:rPr>
              <a:t>Conclusion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627645" y="2551562"/>
            <a:ext cx="18915645" cy="6255074"/>
            <a:chOff x="0" y="0"/>
            <a:chExt cx="4981898" cy="1647427"/>
          </a:xfrm>
        </p:grpSpPr>
        <p:sp>
          <p:nvSpPr>
            <p:cNvPr id="3" name="Freeform 3"/>
            <p:cNvSpPr/>
            <p:nvPr/>
          </p:nvSpPr>
          <p:spPr>
            <a:xfrm>
              <a:off x="0" y="0"/>
              <a:ext cx="4981898" cy="1647427"/>
            </a:xfrm>
            <a:custGeom>
              <a:avLst/>
              <a:gdLst/>
              <a:ahLst/>
              <a:cxnLst/>
              <a:rect l="l" t="t" r="r" b="b"/>
              <a:pathLst>
                <a:path w="4981898" h="1647427">
                  <a:moveTo>
                    <a:pt x="0" y="0"/>
                  </a:moveTo>
                  <a:lnTo>
                    <a:pt x="4981898" y="0"/>
                  </a:lnTo>
                  <a:lnTo>
                    <a:pt x="4981898" y="1647427"/>
                  </a:lnTo>
                  <a:lnTo>
                    <a:pt x="0" y="1647427"/>
                  </a:lnTo>
                  <a:close/>
                </a:path>
              </a:pathLst>
            </a:custGeom>
            <a:solidFill>
              <a:srgbClr val="CFE8FF"/>
            </a:solidFill>
          </p:spPr>
        </p:sp>
        <p:sp>
          <p:nvSpPr>
            <p:cNvPr id="4" name="TextBox 4"/>
            <p:cNvSpPr txBox="1"/>
            <p:nvPr/>
          </p:nvSpPr>
          <p:spPr>
            <a:xfrm>
              <a:off x="0" y="-57150"/>
              <a:ext cx="4981898" cy="1704577"/>
            </a:xfrm>
            <a:prstGeom prst="rect">
              <a:avLst/>
            </a:prstGeom>
          </p:spPr>
          <p:txBody>
            <a:bodyPr lIns="50800" tIns="50800" rIns="50800" bIns="50800" rtlCol="0" anchor="ctr"/>
            <a:lstStyle/>
            <a:p>
              <a:pPr algn="ctr">
                <a:lnSpc>
                  <a:spcPts val="3220"/>
                </a:lnSpc>
              </a:pPr>
              <a:endParaRPr/>
            </a:p>
          </p:txBody>
        </p:sp>
      </p:grpSp>
      <p:sp>
        <p:nvSpPr>
          <p:cNvPr id="5" name="Freeform 5"/>
          <p:cNvSpPr/>
          <p:nvPr/>
        </p:nvSpPr>
        <p:spPr>
          <a:xfrm>
            <a:off x="7105662" y="458398"/>
            <a:ext cx="5160691" cy="1071288"/>
          </a:xfrm>
          <a:custGeom>
            <a:avLst/>
            <a:gdLst/>
            <a:ahLst/>
            <a:cxnLst/>
            <a:rect l="l" t="t" r="r" b="b"/>
            <a:pathLst>
              <a:path w="5200428" h="1071288">
                <a:moveTo>
                  <a:pt x="0" y="0"/>
                </a:moveTo>
                <a:lnTo>
                  <a:pt x="5200428" y="0"/>
                </a:lnTo>
                <a:lnTo>
                  <a:pt x="5200428" y="1071288"/>
                </a:lnTo>
                <a:lnTo>
                  <a:pt x="0" y="1071288"/>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6" name="Group 6"/>
          <p:cNvGrpSpPr/>
          <p:nvPr/>
        </p:nvGrpSpPr>
        <p:grpSpPr>
          <a:xfrm rot="5400000">
            <a:off x="-7674903" y="2334011"/>
            <a:ext cx="11734091" cy="5618979"/>
            <a:chOff x="0" y="0"/>
            <a:chExt cx="3090460" cy="1479896"/>
          </a:xfrm>
        </p:grpSpPr>
        <p:sp>
          <p:nvSpPr>
            <p:cNvPr id="7" name="Freeform 7"/>
            <p:cNvSpPr/>
            <p:nvPr/>
          </p:nvSpPr>
          <p:spPr>
            <a:xfrm>
              <a:off x="0" y="0"/>
              <a:ext cx="3090460" cy="1479896"/>
            </a:xfrm>
            <a:custGeom>
              <a:avLst/>
              <a:gdLst/>
              <a:ahLst/>
              <a:cxnLst/>
              <a:rect l="l" t="t" r="r" b="b"/>
              <a:pathLst>
                <a:path w="3090460" h="1479896">
                  <a:moveTo>
                    <a:pt x="0" y="0"/>
                  </a:moveTo>
                  <a:lnTo>
                    <a:pt x="3090460" y="0"/>
                  </a:lnTo>
                  <a:lnTo>
                    <a:pt x="3090460" y="1479896"/>
                  </a:lnTo>
                  <a:lnTo>
                    <a:pt x="0" y="1479896"/>
                  </a:lnTo>
                  <a:close/>
                </a:path>
              </a:pathLst>
            </a:custGeom>
            <a:solidFill>
              <a:srgbClr val="000000">
                <a:alpha val="0"/>
              </a:srgbClr>
            </a:solidFill>
            <a:ln w="85725" cap="sq">
              <a:solidFill>
                <a:srgbClr val="000000"/>
              </a:solidFill>
              <a:prstDash val="solid"/>
              <a:miter/>
            </a:ln>
          </p:spPr>
        </p:sp>
        <p:sp>
          <p:nvSpPr>
            <p:cNvPr id="8" name="TextBox 8"/>
            <p:cNvSpPr txBox="1"/>
            <p:nvPr/>
          </p:nvSpPr>
          <p:spPr>
            <a:xfrm>
              <a:off x="0" y="-85725"/>
              <a:ext cx="3090460" cy="1565621"/>
            </a:xfrm>
            <a:prstGeom prst="rect">
              <a:avLst/>
            </a:prstGeom>
          </p:spPr>
          <p:txBody>
            <a:bodyPr lIns="50800" tIns="50800" rIns="50800" bIns="50800" rtlCol="0" anchor="ctr"/>
            <a:lstStyle/>
            <a:p>
              <a:pPr algn="ctr">
                <a:lnSpc>
                  <a:spcPts val="5600"/>
                </a:lnSpc>
              </a:pPr>
              <a:endParaRPr/>
            </a:p>
          </p:txBody>
        </p:sp>
      </p:grpSp>
      <p:sp>
        <p:nvSpPr>
          <p:cNvPr id="9" name="Freeform 9"/>
          <p:cNvSpPr/>
          <p:nvPr/>
        </p:nvSpPr>
        <p:spPr>
          <a:xfrm>
            <a:off x="2569008" y="6082154"/>
            <a:ext cx="6574992" cy="3698433"/>
          </a:xfrm>
          <a:custGeom>
            <a:avLst/>
            <a:gdLst/>
            <a:ahLst/>
            <a:cxnLst/>
            <a:rect l="l" t="t" r="r" b="b"/>
            <a:pathLst>
              <a:path w="6574992" h="3698433">
                <a:moveTo>
                  <a:pt x="0" y="0"/>
                </a:moveTo>
                <a:lnTo>
                  <a:pt x="6574992" y="0"/>
                </a:lnTo>
                <a:lnTo>
                  <a:pt x="6574992" y="3698433"/>
                </a:lnTo>
                <a:lnTo>
                  <a:pt x="0" y="3698433"/>
                </a:lnTo>
                <a:lnTo>
                  <a:pt x="0" y="0"/>
                </a:lnTo>
                <a:close/>
              </a:path>
            </a:pathLst>
          </a:custGeom>
          <a:blipFill>
            <a:blip r:embed="rId3"/>
            <a:stretch>
              <a:fillRect/>
            </a:stretch>
          </a:blipFill>
        </p:spPr>
      </p:sp>
      <p:sp>
        <p:nvSpPr>
          <p:cNvPr id="10" name="Freeform 10"/>
          <p:cNvSpPr/>
          <p:nvPr/>
        </p:nvSpPr>
        <p:spPr>
          <a:xfrm>
            <a:off x="1285841" y="1826234"/>
            <a:ext cx="6637523" cy="3733607"/>
          </a:xfrm>
          <a:custGeom>
            <a:avLst/>
            <a:gdLst/>
            <a:ahLst/>
            <a:cxnLst/>
            <a:rect l="l" t="t" r="r" b="b"/>
            <a:pathLst>
              <a:path w="6637523" h="3733607">
                <a:moveTo>
                  <a:pt x="0" y="0"/>
                </a:moveTo>
                <a:lnTo>
                  <a:pt x="6637522" y="0"/>
                </a:lnTo>
                <a:lnTo>
                  <a:pt x="6637522" y="3733607"/>
                </a:lnTo>
                <a:lnTo>
                  <a:pt x="0" y="3733607"/>
                </a:lnTo>
                <a:lnTo>
                  <a:pt x="0" y="0"/>
                </a:lnTo>
                <a:close/>
              </a:path>
            </a:pathLst>
          </a:custGeom>
          <a:blipFill>
            <a:blip r:embed="rId4"/>
            <a:stretch>
              <a:fillRect r="-1123"/>
            </a:stretch>
          </a:blipFill>
        </p:spPr>
      </p:sp>
      <p:sp>
        <p:nvSpPr>
          <p:cNvPr id="11" name="Freeform 11"/>
          <p:cNvSpPr/>
          <p:nvPr/>
        </p:nvSpPr>
        <p:spPr>
          <a:xfrm>
            <a:off x="12591840" y="684162"/>
            <a:ext cx="9886652" cy="8574138"/>
          </a:xfrm>
          <a:custGeom>
            <a:avLst/>
            <a:gdLst/>
            <a:ahLst/>
            <a:cxnLst/>
            <a:rect l="l" t="t" r="r" b="b"/>
            <a:pathLst>
              <a:path w="9886652" h="8574138">
                <a:moveTo>
                  <a:pt x="0" y="0"/>
                </a:moveTo>
                <a:lnTo>
                  <a:pt x="9886652" y="0"/>
                </a:lnTo>
                <a:lnTo>
                  <a:pt x="9886652" y="8574138"/>
                </a:lnTo>
                <a:lnTo>
                  <a:pt x="0" y="8574138"/>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12" name="TextBox 12"/>
          <p:cNvSpPr txBox="1"/>
          <p:nvPr/>
        </p:nvSpPr>
        <p:spPr>
          <a:xfrm>
            <a:off x="7689791" y="598437"/>
            <a:ext cx="4121209" cy="673967"/>
          </a:xfrm>
          <a:prstGeom prst="rect">
            <a:avLst/>
          </a:prstGeom>
        </p:spPr>
        <p:txBody>
          <a:bodyPr wrap="square" lIns="0" tIns="0" rIns="0" bIns="0" rtlCol="0" anchor="t">
            <a:spAutoFit/>
          </a:bodyPr>
          <a:lstStyle/>
          <a:p>
            <a:pPr algn="ctr">
              <a:lnSpc>
                <a:spcPts val="5740"/>
              </a:lnSpc>
              <a:spcBef>
                <a:spcPct val="0"/>
              </a:spcBef>
            </a:pPr>
            <a:r>
              <a:rPr lang="en-US" sz="4100" b="1" dirty="0">
                <a:solidFill>
                  <a:srgbClr val="000000"/>
                </a:solidFill>
                <a:latin typeface="Raleway Bold"/>
                <a:ea typeface="Raleway Bold"/>
                <a:cs typeface="Raleway Bold"/>
                <a:sym typeface="Raleway Bold"/>
              </a:rPr>
              <a:t>Final Dashboard</a:t>
            </a:r>
          </a:p>
        </p:txBody>
      </p:sp>
      <p:sp>
        <p:nvSpPr>
          <p:cNvPr id="13" name="TextBox 13"/>
          <p:cNvSpPr txBox="1"/>
          <p:nvPr/>
        </p:nvSpPr>
        <p:spPr>
          <a:xfrm>
            <a:off x="9144000" y="2730476"/>
            <a:ext cx="7815063" cy="5849620"/>
          </a:xfrm>
          <a:prstGeom prst="rect">
            <a:avLst/>
          </a:prstGeom>
        </p:spPr>
        <p:txBody>
          <a:bodyPr lIns="0" tIns="0" rIns="0" bIns="0" rtlCol="0" anchor="t">
            <a:spAutoFit/>
          </a:bodyPr>
          <a:lstStyle/>
          <a:p>
            <a:pPr marL="474979" lvl="1" indent="-237490" algn="l">
              <a:lnSpc>
                <a:spcPts val="3079"/>
              </a:lnSpc>
              <a:buFont typeface="Arial"/>
              <a:buChar char="•"/>
            </a:pPr>
            <a:r>
              <a:rPr lang="en-US" sz="2199" b="1">
                <a:solidFill>
                  <a:srgbClr val="000000"/>
                </a:solidFill>
                <a:latin typeface="Raleway Bold"/>
                <a:ea typeface="Raleway Bold"/>
                <a:cs typeface="Raleway Bold"/>
                <a:sym typeface="Raleway Bold"/>
              </a:rPr>
              <a:t>Import Data</a:t>
            </a:r>
            <a:r>
              <a:rPr lang="en-US" sz="2199">
                <a:solidFill>
                  <a:srgbClr val="000000"/>
                </a:solidFill>
                <a:latin typeface="Raleway"/>
                <a:ea typeface="Raleway"/>
                <a:cs typeface="Raleway"/>
                <a:sym typeface="Raleway"/>
              </a:rPr>
              <a:t>: Load the cleaned dataset into Power BI.</a:t>
            </a:r>
          </a:p>
          <a:p>
            <a:pPr marL="474979" lvl="1" indent="-237490" algn="just">
              <a:lnSpc>
                <a:spcPts val="3079"/>
              </a:lnSpc>
              <a:buFont typeface="Arial"/>
              <a:buChar char="•"/>
            </a:pPr>
            <a:r>
              <a:rPr lang="en-US" sz="2199" b="1">
                <a:solidFill>
                  <a:srgbClr val="000000"/>
                </a:solidFill>
                <a:latin typeface="Raleway Bold"/>
                <a:ea typeface="Raleway Bold"/>
                <a:cs typeface="Raleway Bold"/>
                <a:sym typeface="Raleway Bold"/>
              </a:rPr>
              <a:t>Clean &amp; Transform</a:t>
            </a:r>
            <a:r>
              <a:rPr lang="en-US" sz="2199">
                <a:solidFill>
                  <a:srgbClr val="000000"/>
                </a:solidFill>
                <a:latin typeface="Raleway"/>
                <a:ea typeface="Raleway"/>
                <a:cs typeface="Raleway"/>
                <a:sym typeface="Raleway"/>
              </a:rPr>
              <a:t>: Use Power Query to fix data types and create new fields (Month, Route, Delay Type).</a:t>
            </a:r>
          </a:p>
          <a:p>
            <a:pPr marL="474979" lvl="1" indent="-237490" algn="l">
              <a:lnSpc>
                <a:spcPts val="3079"/>
              </a:lnSpc>
              <a:buFont typeface="Arial"/>
              <a:buChar char="•"/>
            </a:pPr>
            <a:r>
              <a:rPr lang="en-US" sz="2199" b="1">
                <a:solidFill>
                  <a:srgbClr val="000000"/>
                </a:solidFill>
                <a:latin typeface="Raleway Bold"/>
                <a:ea typeface="Raleway Bold"/>
                <a:cs typeface="Raleway Bold"/>
                <a:sym typeface="Raleway Bold"/>
              </a:rPr>
              <a:t>Model Data</a:t>
            </a:r>
            <a:r>
              <a:rPr lang="en-US" sz="2199">
                <a:solidFill>
                  <a:srgbClr val="000000"/>
                </a:solidFill>
                <a:latin typeface="Raleway"/>
                <a:ea typeface="Raleway"/>
                <a:cs typeface="Raleway"/>
                <a:sym typeface="Raleway"/>
              </a:rPr>
              <a:t>: Build relationships and calculated columns if needed.</a:t>
            </a:r>
          </a:p>
          <a:p>
            <a:pPr marL="474979" lvl="1" indent="-237490" algn="l">
              <a:lnSpc>
                <a:spcPts val="3079"/>
              </a:lnSpc>
              <a:buFont typeface="Arial"/>
              <a:buChar char="•"/>
            </a:pPr>
            <a:r>
              <a:rPr lang="en-US" sz="2199" b="1">
                <a:solidFill>
                  <a:srgbClr val="000000"/>
                </a:solidFill>
                <a:latin typeface="Raleway Bold"/>
                <a:ea typeface="Raleway Bold"/>
                <a:cs typeface="Raleway Bold"/>
                <a:sym typeface="Raleway Bold"/>
              </a:rPr>
              <a:t>Create Visuals</a:t>
            </a:r>
            <a:r>
              <a:rPr lang="en-US" sz="2199">
                <a:solidFill>
                  <a:srgbClr val="000000"/>
                </a:solidFill>
                <a:latin typeface="Raleway"/>
                <a:ea typeface="Raleway"/>
                <a:cs typeface="Raleway"/>
                <a:sym typeface="Raleway"/>
              </a:rPr>
              <a:t>: Add charts like bar, line, map, and pie for key metrics.</a:t>
            </a:r>
          </a:p>
          <a:p>
            <a:pPr marL="474979" lvl="1" indent="-237490" algn="l">
              <a:lnSpc>
                <a:spcPts val="3079"/>
              </a:lnSpc>
              <a:buFont typeface="Arial"/>
              <a:buChar char="•"/>
            </a:pPr>
            <a:r>
              <a:rPr lang="en-US" sz="2199" b="1">
                <a:solidFill>
                  <a:srgbClr val="000000"/>
                </a:solidFill>
                <a:latin typeface="Raleway Bold"/>
                <a:ea typeface="Raleway Bold"/>
                <a:cs typeface="Raleway Bold"/>
                <a:sym typeface="Raleway Bold"/>
              </a:rPr>
              <a:t>Add KPIs</a:t>
            </a:r>
            <a:r>
              <a:rPr lang="en-US" sz="2199">
                <a:solidFill>
                  <a:srgbClr val="000000"/>
                </a:solidFill>
                <a:latin typeface="Raleway"/>
                <a:ea typeface="Raleway"/>
                <a:cs typeface="Raleway"/>
                <a:sym typeface="Raleway"/>
              </a:rPr>
              <a:t>: Show total flights, % cancelled, and average delay.</a:t>
            </a:r>
          </a:p>
          <a:p>
            <a:pPr marL="474979" lvl="1" indent="-237490" algn="l">
              <a:lnSpc>
                <a:spcPts val="3079"/>
              </a:lnSpc>
              <a:buFont typeface="Arial"/>
              <a:buChar char="•"/>
            </a:pPr>
            <a:r>
              <a:rPr lang="en-US" sz="2199" b="1">
                <a:solidFill>
                  <a:srgbClr val="000000"/>
                </a:solidFill>
                <a:latin typeface="Raleway Bold"/>
                <a:ea typeface="Raleway Bold"/>
                <a:cs typeface="Raleway Bold"/>
                <a:sym typeface="Raleway Bold"/>
              </a:rPr>
              <a:t>Apply Filters</a:t>
            </a:r>
            <a:r>
              <a:rPr lang="en-US" sz="2199">
                <a:solidFill>
                  <a:srgbClr val="000000"/>
                </a:solidFill>
                <a:latin typeface="Raleway"/>
                <a:ea typeface="Raleway"/>
                <a:cs typeface="Raleway"/>
                <a:sym typeface="Raleway"/>
              </a:rPr>
              <a:t>: Use slicers for Airline, Airport, Month, and Cause.</a:t>
            </a:r>
          </a:p>
          <a:p>
            <a:pPr marL="474979" lvl="1" indent="-237490" algn="l">
              <a:lnSpc>
                <a:spcPts val="3079"/>
              </a:lnSpc>
              <a:buFont typeface="Arial"/>
              <a:buChar char="•"/>
            </a:pPr>
            <a:r>
              <a:rPr lang="en-US" sz="2199" b="1">
                <a:solidFill>
                  <a:srgbClr val="000000"/>
                </a:solidFill>
                <a:latin typeface="Raleway Bold"/>
                <a:ea typeface="Raleway Bold"/>
                <a:cs typeface="Raleway Bold"/>
                <a:sym typeface="Raleway Bold"/>
              </a:rPr>
              <a:t>Design Layout</a:t>
            </a:r>
            <a:r>
              <a:rPr lang="en-US" sz="2199">
                <a:solidFill>
                  <a:srgbClr val="000000"/>
                </a:solidFill>
                <a:latin typeface="Raleway"/>
                <a:ea typeface="Raleway"/>
                <a:cs typeface="Raleway"/>
                <a:sym typeface="Raleway"/>
              </a:rPr>
              <a:t>: Arrange visuals neatly with clear titles and colors.</a:t>
            </a:r>
          </a:p>
          <a:p>
            <a:pPr marL="474979" lvl="1" indent="-237490" algn="l">
              <a:lnSpc>
                <a:spcPts val="3079"/>
              </a:lnSpc>
              <a:buFont typeface="Arial"/>
              <a:buChar char="•"/>
            </a:pPr>
            <a:r>
              <a:rPr lang="en-US" sz="2199" b="1">
                <a:solidFill>
                  <a:srgbClr val="000000"/>
                </a:solidFill>
                <a:latin typeface="Raleway Bold"/>
                <a:ea typeface="Raleway Bold"/>
                <a:cs typeface="Raleway Bold"/>
                <a:sym typeface="Raleway Bold"/>
              </a:rPr>
              <a:t>Publish &amp; Share</a:t>
            </a:r>
            <a:r>
              <a:rPr lang="en-US" sz="2199">
                <a:solidFill>
                  <a:srgbClr val="000000"/>
                </a:solidFill>
                <a:latin typeface="Raleway"/>
                <a:ea typeface="Raleway"/>
                <a:cs typeface="Raleway"/>
                <a:sym typeface="Raleway"/>
              </a:rPr>
              <a:t>: Upload to Power BI Service for interactive viewing.</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CFE8FF"/>
        </a:solidFill>
        <a:effectLst/>
      </p:bgPr>
    </p:bg>
    <p:spTree>
      <p:nvGrpSpPr>
        <p:cNvPr id="1" name=""/>
        <p:cNvGrpSpPr/>
        <p:nvPr/>
      </p:nvGrpSpPr>
      <p:grpSpPr>
        <a:xfrm>
          <a:off x="0" y="0"/>
          <a:ext cx="0" cy="0"/>
          <a:chOff x="0" y="0"/>
          <a:chExt cx="0" cy="0"/>
        </a:xfrm>
      </p:grpSpPr>
      <p:sp>
        <p:nvSpPr>
          <p:cNvPr id="2" name="AutoShape 2"/>
          <p:cNvSpPr/>
          <p:nvPr/>
        </p:nvSpPr>
        <p:spPr>
          <a:xfrm>
            <a:off x="2039328" y="5119639"/>
            <a:ext cx="7459961" cy="0"/>
          </a:xfrm>
          <a:prstGeom prst="line">
            <a:avLst/>
          </a:prstGeom>
          <a:ln w="47625" cap="flat">
            <a:solidFill>
              <a:srgbClr val="000000"/>
            </a:solidFill>
            <a:prstDash val="solid"/>
            <a:headEnd type="none" w="sm" len="sm"/>
            <a:tailEnd type="none" w="sm" len="sm"/>
          </a:ln>
        </p:spPr>
      </p:sp>
      <p:sp>
        <p:nvSpPr>
          <p:cNvPr id="3" name="Freeform 3"/>
          <p:cNvSpPr/>
          <p:nvPr/>
        </p:nvSpPr>
        <p:spPr>
          <a:xfrm>
            <a:off x="9789045" y="3924916"/>
            <a:ext cx="3096285" cy="2437168"/>
          </a:xfrm>
          <a:custGeom>
            <a:avLst/>
            <a:gdLst/>
            <a:ahLst/>
            <a:cxnLst/>
            <a:rect l="l" t="t" r="r" b="b"/>
            <a:pathLst>
              <a:path w="3096285" h="2437168">
                <a:moveTo>
                  <a:pt x="0" y="0"/>
                </a:moveTo>
                <a:lnTo>
                  <a:pt x="3096285" y="0"/>
                </a:lnTo>
                <a:lnTo>
                  <a:pt x="3096285" y="2437168"/>
                </a:lnTo>
                <a:lnTo>
                  <a:pt x="0" y="2437168"/>
                </a:lnTo>
                <a:lnTo>
                  <a:pt x="0" y="0"/>
                </a:lnTo>
                <a:close/>
              </a:path>
            </a:pathLst>
          </a:custGeom>
          <a:blipFill>
            <a:blip r:embed="rId2"/>
            <a:stretch>
              <a:fillRect b="-27044"/>
            </a:stretch>
          </a:blipFill>
        </p:spPr>
      </p:sp>
      <p:sp>
        <p:nvSpPr>
          <p:cNvPr id="4" name="TextBox 4"/>
          <p:cNvSpPr txBox="1"/>
          <p:nvPr/>
        </p:nvSpPr>
        <p:spPr>
          <a:xfrm>
            <a:off x="2039328" y="3826664"/>
            <a:ext cx="7459961" cy="948284"/>
          </a:xfrm>
          <a:prstGeom prst="rect">
            <a:avLst/>
          </a:prstGeom>
        </p:spPr>
        <p:txBody>
          <a:bodyPr lIns="0" tIns="0" rIns="0" bIns="0" rtlCol="0" anchor="t">
            <a:spAutoFit/>
          </a:bodyPr>
          <a:lstStyle/>
          <a:p>
            <a:pPr algn="l">
              <a:lnSpc>
                <a:spcPts val="7235"/>
              </a:lnSpc>
            </a:pPr>
            <a:r>
              <a:rPr lang="en-US" sz="6347">
                <a:solidFill>
                  <a:srgbClr val="000000"/>
                </a:solidFill>
                <a:latin typeface="Raleway"/>
                <a:ea typeface="Raleway"/>
                <a:cs typeface="Raleway"/>
                <a:sym typeface="Raleway"/>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40</TotalTime>
  <Words>961</Words>
  <Application>Microsoft Office PowerPoint</Application>
  <PresentationFormat>Custom</PresentationFormat>
  <Paragraphs>105</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Raleway</vt:lpstr>
      <vt:lpstr>Arial</vt:lpstr>
      <vt:lpstr>Raleway Bold</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AirFly Insights Week 8</dc:title>
  <cp:lastModifiedBy>Krithika M</cp:lastModifiedBy>
  <cp:revision>5</cp:revision>
  <dcterms:created xsi:type="dcterms:W3CDTF">2006-08-16T00:00:00Z</dcterms:created>
  <dcterms:modified xsi:type="dcterms:W3CDTF">2026-06-30T09:58:09Z</dcterms:modified>
  <dc:identifier>DAG4raVbSps</dc:identifier>
</cp:coreProperties>
</file>